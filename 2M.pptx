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6858000" cy="9144000"/>
  <p:embeddedFontLst>
    <p:embeddedFont>
      <p:font typeface="Abhaya Libre" panose="020B0604020202020204" charset="0"/>
      <p:regular r:id="rId17"/>
    </p:embeddedFont>
    <p:embeddedFont>
      <p:font typeface="Abhaya Libre Bold" panose="020B0604020202020204" charset="0"/>
      <p:regular r:id="rId18"/>
    </p:embeddedFont>
    <p:embeddedFont>
      <p:font typeface="Alatsi" panose="020B0604020202020204" charset="0"/>
      <p:regular r:id="rId19"/>
    </p:embeddedFont>
    <p:embeddedFont>
      <p:font typeface="Canva Sans" panose="020B0604020202020204" charset="0"/>
      <p:regular r:id="rId20"/>
    </p:embeddedFont>
    <p:embeddedFont>
      <p:font typeface="Canva Sans Bold" panose="020B0604020202020204" charset="0"/>
      <p:regular r:id="rId21"/>
    </p:embeddedFont>
    <p:embeddedFont>
      <p:font typeface="Canva Sans Italics" panose="020B0604020202020204" charset="0"/>
      <p:regular r:id="rId22"/>
    </p:embeddedFont>
    <p:embeddedFont>
      <p:font typeface="Open Sans Bold" panose="020B0604020202020204" charset="0"/>
      <p:regular r:id="rId23"/>
    </p:embeddedFont>
    <p:embeddedFont>
      <p:font typeface="Times New Roman MT" panose="020B0604020202020204" charset="0"/>
      <p:regular r:id="rId24"/>
    </p:embeddedFont>
    <p:embeddedFont>
      <p:font typeface="Times New Roman MT Bold" panose="020B0604020202020204" charset="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365"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hyperlink" Target="https://www.researchgate.net/publication/374298746_Plant_Disease_Classifier_Detection_of_Dual-Crop_Diseases_using_Lightweight_2D_CNN_Architecture" TargetMode="External"/><Relationship Id="rId7" Type="http://schemas.openxmlformats.org/officeDocument/2006/relationships/hyperlink" Target="https://ieeexplore.ieee.org/stamp/stamp.jsp?arnumber=9399342" TargetMode="External"/><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hyperlink" Target="https://ieeexplore.ieee.org/document/10414062" TargetMode="External"/><Relationship Id="rId5" Type="http://schemas.openxmlformats.org/officeDocument/2006/relationships/hyperlink" Target="https://www.mdpi.com/2076-3417/10/2/469" TargetMode="External"/><Relationship Id="rId4" Type="http://schemas.openxmlformats.org/officeDocument/2006/relationships/hyperlink" Target="https://www.researchgate.net/publication/382282535_Improving_Plant_Disease_Classification_with_Deep_Learning_based_Prediction_Model_using_Explainable_Artificial_Intelligence"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Freeform 2"/>
          <p:cNvSpPr/>
          <p:nvPr/>
        </p:nvSpPr>
        <p:spPr>
          <a:xfrm>
            <a:off x="11692069" y="9141752"/>
            <a:ext cx="7315200" cy="2477783"/>
          </a:xfrm>
          <a:custGeom>
            <a:avLst/>
            <a:gdLst/>
            <a:ahLst/>
            <a:cxnLst/>
            <a:rect l="l" t="t" r="r" b="b"/>
            <a:pathLst>
              <a:path w="7315200" h="2477783">
                <a:moveTo>
                  <a:pt x="0" y="0"/>
                </a:moveTo>
                <a:lnTo>
                  <a:pt x="7315200" y="0"/>
                </a:lnTo>
                <a:lnTo>
                  <a:pt x="7315200" y="2477784"/>
                </a:lnTo>
                <a:lnTo>
                  <a:pt x="0" y="247778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4159245" y="2711336"/>
            <a:ext cx="11190423" cy="1014563"/>
          </a:xfrm>
          <a:prstGeom prst="rect">
            <a:avLst/>
          </a:prstGeom>
        </p:spPr>
        <p:txBody>
          <a:bodyPr lIns="0" tIns="0" rIns="0" bIns="0" rtlCol="0" anchor="t">
            <a:spAutoFit/>
          </a:bodyPr>
          <a:lstStyle/>
          <a:p>
            <a:pPr algn="ctr">
              <a:lnSpc>
                <a:spcPts val="8399"/>
              </a:lnSpc>
            </a:pPr>
            <a:r>
              <a:rPr lang="en-US" sz="5999" b="1" u="sng">
                <a:solidFill>
                  <a:srgbClr val="000000"/>
                </a:solidFill>
                <a:latin typeface="Canva Sans Bold"/>
                <a:ea typeface="Canva Sans Bold"/>
                <a:cs typeface="Canva Sans Bold"/>
                <a:sym typeface="Canva Sans Bold"/>
              </a:rPr>
              <a:t>Plant Disease Classification</a:t>
            </a:r>
          </a:p>
        </p:txBody>
      </p:sp>
      <p:sp>
        <p:nvSpPr>
          <p:cNvPr id="4" name="Freeform 4"/>
          <p:cNvSpPr/>
          <p:nvPr/>
        </p:nvSpPr>
        <p:spPr>
          <a:xfrm rot="-10800000">
            <a:off x="-3072681" y="-928490"/>
            <a:ext cx="7315200" cy="2477783"/>
          </a:xfrm>
          <a:custGeom>
            <a:avLst/>
            <a:gdLst/>
            <a:ahLst/>
            <a:cxnLst/>
            <a:rect l="l" t="t" r="r" b="b"/>
            <a:pathLst>
              <a:path w="7315200" h="2477783">
                <a:moveTo>
                  <a:pt x="0" y="0"/>
                </a:moveTo>
                <a:lnTo>
                  <a:pt x="7315200" y="0"/>
                </a:lnTo>
                <a:lnTo>
                  <a:pt x="7315200" y="2477784"/>
                </a:lnTo>
                <a:lnTo>
                  <a:pt x="0" y="247778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Freeform 5"/>
          <p:cNvSpPr/>
          <p:nvPr/>
        </p:nvSpPr>
        <p:spPr>
          <a:xfrm>
            <a:off x="0" y="-386657"/>
            <a:ext cx="1494312" cy="10673657"/>
          </a:xfrm>
          <a:custGeom>
            <a:avLst/>
            <a:gdLst/>
            <a:ahLst/>
            <a:cxnLst/>
            <a:rect l="l" t="t" r="r" b="b"/>
            <a:pathLst>
              <a:path w="1494312" h="10673657">
                <a:moveTo>
                  <a:pt x="0" y="0"/>
                </a:moveTo>
                <a:lnTo>
                  <a:pt x="1494312" y="0"/>
                </a:lnTo>
                <a:lnTo>
                  <a:pt x="1494312" y="10673657"/>
                </a:lnTo>
                <a:lnTo>
                  <a:pt x="0" y="10673657"/>
                </a:lnTo>
                <a:lnTo>
                  <a:pt x="0" y="0"/>
                </a:lnTo>
                <a:close/>
              </a:path>
            </a:pathLst>
          </a:custGeom>
          <a:blipFill>
            <a:blip r:embed="rId3"/>
            <a:stretch>
              <a:fillRect/>
            </a:stretch>
          </a:blipFill>
        </p:spPr>
      </p:sp>
      <p:sp>
        <p:nvSpPr>
          <p:cNvPr id="6" name="Freeform 6"/>
          <p:cNvSpPr/>
          <p:nvPr/>
        </p:nvSpPr>
        <p:spPr>
          <a:xfrm>
            <a:off x="3173184" y="295397"/>
            <a:ext cx="11485942" cy="2222031"/>
          </a:xfrm>
          <a:custGeom>
            <a:avLst/>
            <a:gdLst/>
            <a:ahLst/>
            <a:cxnLst/>
            <a:rect l="l" t="t" r="r" b="b"/>
            <a:pathLst>
              <a:path w="11485942" h="2222031">
                <a:moveTo>
                  <a:pt x="0" y="0"/>
                </a:moveTo>
                <a:lnTo>
                  <a:pt x="11485941" y="0"/>
                </a:lnTo>
                <a:lnTo>
                  <a:pt x="11485941" y="2222031"/>
                </a:lnTo>
                <a:lnTo>
                  <a:pt x="0" y="2222031"/>
                </a:lnTo>
                <a:lnTo>
                  <a:pt x="0" y="0"/>
                </a:lnTo>
                <a:close/>
              </a:path>
            </a:pathLst>
          </a:custGeom>
          <a:blipFill>
            <a:blip r:embed="rId4"/>
            <a:stretch>
              <a:fillRect/>
            </a:stretch>
          </a:blipFill>
        </p:spPr>
      </p:sp>
      <p:sp>
        <p:nvSpPr>
          <p:cNvPr id="7" name="TextBox 7"/>
          <p:cNvSpPr txBox="1"/>
          <p:nvPr/>
        </p:nvSpPr>
        <p:spPr>
          <a:xfrm>
            <a:off x="5767387" y="7527558"/>
            <a:ext cx="6297535" cy="606425"/>
          </a:xfrm>
          <a:prstGeom prst="rect">
            <a:avLst/>
          </a:prstGeom>
        </p:spPr>
        <p:txBody>
          <a:bodyPr lIns="0" tIns="0" rIns="0" bIns="0" rtlCol="0" anchor="t">
            <a:spAutoFit/>
          </a:bodyPr>
          <a:lstStyle/>
          <a:p>
            <a:pPr algn="ctr">
              <a:lnSpc>
                <a:spcPts val="4900"/>
              </a:lnSpc>
              <a:spcBef>
                <a:spcPct val="0"/>
              </a:spcBef>
            </a:pPr>
            <a:r>
              <a:rPr lang="en-US" sz="3500">
                <a:solidFill>
                  <a:srgbClr val="000000"/>
                </a:solidFill>
                <a:latin typeface="Alatsi"/>
                <a:ea typeface="Alatsi"/>
                <a:cs typeface="Alatsi"/>
                <a:sym typeface="Alatsi"/>
              </a:rPr>
              <a:t>Jyotiraditya Chillal (112215081)</a:t>
            </a:r>
          </a:p>
        </p:txBody>
      </p:sp>
      <p:sp>
        <p:nvSpPr>
          <p:cNvPr id="8" name="TextBox 8"/>
          <p:cNvSpPr txBox="1"/>
          <p:nvPr/>
        </p:nvSpPr>
        <p:spPr>
          <a:xfrm>
            <a:off x="6658603" y="3986481"/>
            <a:ext cx="4515104" cy="1490422"/>
          </a:xfrm>
          <a:prstGeom prst="rect">
            <a:avLst/>
          </a:prstGeom>
        </p:spPr>
        <p:txBody>
          <a:bodyPr lIns="0" tIns="0" rIns="0" bIns="0" rtlCol="0" anchor="t">
            <a:spAutoFit/>
          </a:bodyPr>
          <a:lstStyle/>
          <a:p>
            <a:pPr algn="ctr">
              <a:lnSpc>
                <a:spcPts val="2949"/>
              </a:lnSpc>
            </a:pPr>
            <a:r>
              <a:rPr lang="en-US" sz="2106">
                <a:solidFill>
                  <a:srgbClr val="000000"/>
                </a:solidFill>
                <a:latin typeface="Alatsi"/>
                <a:ea typeface="Alatsi"/>
                <a:cs typeface="Alatsi"/>
                <a:sym typeface="Alatsi"/>
              </a:rPr>
              <a:t>Under the guidance of</a:t>
            </a:r>
          </a:p>
          <a:p>
            <a:pPr algn="ctr">
              <a:lnSpc>
                <a:spcPts val="5587"/>
              </a:lnSpc>
            </a:pPr>
            <a:r>
              <a:rPr lang="en-US" sz="3991">
                <a:solidFill>
                  <a:srgbClr val="000000"/>
                </a:solidFill>
                <a:latin typeface="Alatsi"/>
                <a:ea typeface="Alatsi"/>
                <a:cs typeface="Alatsi"/>
                <a:sym typeface="Alatsi"/>
              </a:rPr>
              <a:t>Ms. Anupama Arun</a:t>
            </a:r>
          </a:p>
          <a:p>
            <a:pPr algn="ctr">
              <a:lnSpc>
                <a:spcPts val="3414"/>
              </a:lnSpc>
              <a:spcBef>
                <a:spcPct val="0"/>
              </a:spcBef>
            </a:pPr>
            <a:r>
              <a:rPr lang="en-US" sz="2439">
                <a:solidFill>
                  <a:srgbClr val="000000"/>
                </a:solidFill>
                <a:latin typeface="Alatsi"/>
                <a:ea typeface="Alatsi"/>
                <a:cs typeface="Alatsi"/>
                <a:sym typeface="Alatsi"/>
              </a:rPr>
              <a:t>Adjunct Assistant Professor</a:t>
            </a:r>
          </a:p>
        </p:txBody>
      </p:sp>
      <p:sp>
        <p:nvSpPr>
          <p:cNvPr id="9" name="TextBox 9"/>
          <p:cNvSpPr txBox="1"/>
          <p:nvPr/>
        </p:nvSpPr>
        <p:spPr>
          <a:xfrm>
            <a:off x="4812002" y="8242598"/>
            <a:ext cx="8208305" cy="1674483"/>
          </a:xfrm>
          <a:prstGeom prst="rect">
            <a:avLst/>
          </a:prstGeom>
        </p:spPr>
        <p:txBody>
          <a:bodyPr lIns="0" tIns="0" rIns="0" bIns="0" rtlCol="0" anchor="t">
            <a:spAutoFit/>
          </a:bodyPr>
          <a:lstStyle/>
          <a:p>
            <a:pPr algn="ctr">
              <a:lnSpc>
                <a:spcPts val="4305"/>
              </a:lnSpc>
            </a:pPr>
            <a:r>
              <a:rPr lang="en-US" sz="3075" b="1">
                <a:solidFill>
                  <a:srgbClr val="000000"/>
                </a:solidFill>
                <a:latin typeface="Times New Roman MT Bold"/>
                <a:ea typeface="Times New Roman MT Bold"/>
                <a:cs typeface="Times New Roman MT Bold"/>
                <a:sym typeface="Times New Roman MT Bold"/>
              </a:rPr>
              <a:t>Dept. of Computer Science &amp; Engineering</a:t>
            </a:r>
          </a:p>
          <a:p>
            <a:pPr algn="ctr">
              <a:lnSpc>
                <a:spcPts val="4305"/>
              </a:lnSpc>
            </a:pPr>
            <a:r>
              <a:rPr lang="en-US" sz="3075" b="1">
                <a:solidFill>
                  <a:srgbClr val="000000"/>
                </a:solidFill>
                <a:latin typeface="Times New Roman MT Bold"/>
                <a:ea typeface="Times New Roman MT Bold"/>
                <a:cs typeface="Times New Roman MT Bold"/>
                <a:sym typeface="Times New Roman MT Bold"/>
              </a:rPr>
              <a:t>IIIT Pune</a:t>
            </a:r>
          </a:p>
          <a:p>
            <a:pPr algn="ctr">
              <a:lnSpc>
                <a:spcPts val="4305"/>
              </a:lnSpc>
              <a:spcBef>
                <a:spcPct val="0"/>
              </a:spcBef>
            </a:pPr>
            <a:r>
              <a:rPr lang="en-US" sz="3075" b="1">
                <a:solidFill>
                  <a:srgbClr val="000000"/>
                </a:solidFill>
                <a:latin typeface="Times New Roman MT Bold"/>
                <a:ea typeface="Times New Roman MT Bold"/>
                <a:cs typeface="Times New Roman MT Bold"/>
                <a:sym typeface="Times New Roman MT Bold"/>
              </a:rPr>
              <a:t>May 2026</a:t>
            </a:r>
          </a:p>
        </p:txBody>
      </p:sp>
      <p:sp>
        <p:nvSpPr>
          <p:cNvPr id="10" name="TextBox 10"/>
          <p:cNvSpPr txBox="1"/>
          <p:nvPr/>
        </p:nvSpPr>
        <p:spPr>
          <a:xfrm>
            <a:off x="7864892" y="6924704"/>
            <a:ext cx="2193508" cy="432298"/>
          </a:xfrm>
          <a:prstGeom prst="rect">
            <a:avLst/>
          </a:prstGeom>
        </p:spPr>
        <p:txBody>
          <a:bodyPr wrap="square" lIns="0" tIns="0" rIns="0" bIns="0" rtlCol="0" anchor="t">
            <a:spAutoFit/>
          </a:bodyPr>
          <a:lstStyle/>
          <a:p>
            <a:pPr algn="ctr">
              <a:lnSpc>
                <a:spcPts val="3640"/>
              </a:lnSpc>
              <a:spcBef>
                <a:spcPct val="0"/>
              </a:spcBef>
            </a:pPr>
            <a:r>
              <a:rPr lang="en-US" sz="2600" i="1" dirty="0">
                <a:solidFill>
                  <a:srgbClr val="000000"/>
                </a:solidFill>
                <a:latin typeface="Canva Sans Italics"/>
                <a:ea typeface="Canva Sans Italics"/>
                <a:cs typeface="Canva Sans Italics"/>
                <a:sym typeface="Canva Sans Italics"/>
              </a:rPr>
              <a:t>Presented by</a:t>
            </a:r>
          </a:p>
        </p:txBody>
      </p:sp>
      <p:grpSp>
        <p:nvGrpSpPr>
          <p:cNvPr id="11" name="Group 11"/>
          <p:cNvGrpSpPr/>
          <p:nvPr/>
        </p:nvGrpSpPr>
        <p:grpSpPr>
          <a:xfrm>
            <a:off x="3000829" y="420137"/>
            <a:ext cx="2316832" cy="2097291"/>
            <a:chOff x="0" y="0"/>
            <a:chExt cx="3089110" cy="2796388"/>
          </a:xfrm>
        </p:grpSpPr>
        <p:sp>
          <p:nvSpPr>
            <p:cNvPr id="12" name="Freeform 12"/>
            <p:cNvSpPr/>
            <p:nvPr/>
          </p:nvSpPr>
          <p:spPr>
            <a:xfrm>
              <a:off x="0" y="0"/>
              <a:ext cx="3089148" cy="2796413"/>
            </a:xfrm>
            <a:custGeom>
              <a:avLst/>
              <a:gdLst/>
              <a:ahLst/>
              <a:cxnLst/>
              <a:rect l="l" t="t" r="r" b="b"/>
              <a:pathLst>
                <a:path w="3089148" h="2796413">
                  <a:moveTo>
                    <a:pt x="0" y="0"/>
                  </a:moveTo>
                  <a:lnTo>
                    <a:pt x="3089148" y="0"/>
                  </a:lnTo>
                  <a:lnTo>
                    <a:pt x="3089148" y="2796413"/>
                  </a:lnTo>
                  <a:lnTo>
                    <a:pt x="0" y="2796413"/>
                  </a:lnTo>
                  <a:lnTo>
                    <a:pt x="0" y="0"/>
                  </a:lnTo>
                  <a:close/>
                </a:path>
              </a:pathLst>
            </a:custGeom>
            <a:blipFill>
              <a:blip r:embed="rId5"/>
              <a:stretch>
                <a:fillRect r="1"/>
              </a:stretch>
            </a:blipFill>
          </p:spPr>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Freeform 2"/>
          <p:cNvSpPr/>
          <p:nvPr/>
        </p:nvSpPr>
        <p:spPr>
          <a:xfrm>
            <a:off x="5562397" y="4804410"/>
            <a:ext cx="10571799" cy="1466837"/>
          </a:xfrm>
          <a:custGeom>
            <a:avLst/>
            <a:gdLst/>
            <a:ahLst/>
            <a:cxnLst/>
            <a:rect l="l" t="t" r="r" b="b"/>
            <a:pathLst>
              <a:path w="10571799" h="1466837">
                <a:moveTo>
                  <a:pt x="0" y="0"/>
                </a:moveTo>
                <a:lnTo>
                  <a:pt x="10571800" y="0"/>
                </a:lnTo>
                <a:lnTo>
                  <a:pt x="10571800" y="1466837"/>
                </a:lnTo>
                <a:lnTo>
                  <a:pt x="0" y="1466837"/>
                </a:lnTo>
                <a:lnTo>
                  <a:pt x="0" y="0"/>
                </a:lnTo>
                <a:close/>
              </a:path>
            </a:pathLst>
          </a:custGeom>
          <a:blipFill>
            <a:blip r:embed="rId2"/>
            <a:stretch>
              <a:fillRect/>
            </a:stretch>
          </a:blipFill>
        </p:spPr>
      </p:sp>
      <p:sp>
        <p:nvSpPr>
          <p:cNvPr id="3" name="Freeform 3"/>
          <p:cNvSpPr/>
          <p:nvPr/>
        </p:nvSpPr>
        <p:spPr>
          <a:xfrm>
            <a:off x="1710813" y="6347447"/>
            <a:ext cx="11301259" cy="1610429"/>
          </a:xfrm>
          <a:custGeom>
            <a:avLst/>
            <a:gdLst/>
            <a:ahLst/>
            <a:cxnLst/>
            <a:rect l="l" t="t" r="r" b="b"/>
            <a:pathLst>
              <a:path w="11301259" h="1610429">
                <a:moveTo>
                  <a:pt x="0" y="0"/>
                </a:moveTo>
                <a:lnTo>
                  <a:pt x="11301259" y="0"/>
                </a:lnTo>
                <a:lnTo>
                  <a:pt x="11301259" y="1610429"/>
                </a:lnTo>
                <a:lnTo>
                  <a:pt x="0" y="1610429"/>
                </a:lnTo>
                <a:lnTo>
                  <a:pt x="0" y="0"/>
                </a:lnTo>
                <a:close/>
              </a:path>
            </a:pathLst>
          </a:custGeom>
          <a:blipFill>
            <a:blip r:embed="rId3"/>
            <a:stretch>
              <a:fillRect/>
            </a:stretch>
          </a:blipFill>
        </p:spPr>
      </p:sp>
      <p:sp>
        <p:nvSpPr>
          <p:cNvPr id="4" name="Freeform 4"/>
          <p:cNvSpPr/>
          <p:nvPr/>
        </p:nvSpPr>
        <p:spPr>
          <a:xfrm>
            <a:off x="5197668" y="8032757"/>
            <a:ext cx="11301259" cy="1483290"/>
          </a:xfrm>
          <a:custGeom>
            <a:avLst/>
            <a:gdLst/>
            <a:ahLst/>
            <a:cxnLst/>
            <a:rect l="l" t="t" r="r" b="b"/>
            <a:pathLst>
              <a:path w="11301259" h="1483290">
                <a:moveTo>
                  <a:pt x="0" y="0"/>
                </a:moveTo>
                <a:lnTo>
                  <a:pt x="11301258" y="0"/>
                </a:lnTo>
                <a:lnTo>
                  <a:pt x="11301258" y="1483290"/>
                </a:lnTo>
                <a:lnTo>
                  <a:pt x="0" y="1483290"/>
                </a:lnTo>
                <a:lnTo>
                  <a:pt x="0" y="0"/>
                </a:lnTo>
                <a:close/>
              </a:path>
            </a:pathLst>
          </a:custGeom>
          <a:blipFill>
            <a:blip r:embed="rId4"/>
            <a:stretch>
              <a:fillRect/>
            </a:stretch>
          </a:blipFill>
        </p:spPr>
      </p:sp>
      <p:sp>
        <p:nvSpPr>
          <p:cNvPr id="5" name="Freeform 5"/>
          <p:cNvSpPr/>
          <p:nvPr/>
        </p:nvSpPr>
        <p:spPr>
          <a:xfrm>
            <a:off x="1710813" y="1924564"/>
            <a:ext cx="8844783" cy="2803646"/>
          </a:xfrm>
          <a:custGeom>
            <a:avLst/>
            <a:gdLst/>
            <a:ahLst/>
            <a:cxnLst/>
            <a:rect l="l" t="t" r="r" b="b"/>
            <a:pathLst>
              <a:path w="8844783" h="2803646">
                <a:moveTo>
                  <a:pt x="0" y="0"/>
                </a:moveTo>
                <a:lnTo>
                  <a:pt x="8844783" y="0"/>
                </a:lnTo>
                <a:lnTo>
                  <a:pt x="8844783" y="2803646"/>
                </a:lnTo>
                <a:lnTo>
                  <a:pt x="0" y="2803646"/>
                </a:lnTo>
                <a:lnTo>
                  <a:pt x="0" y="0"/>
                </a:lnTo>
                <a:close/>
              </a:path>
            </a:pathLst>
          </a:custGeom>
          <a:blipFill>
            <a:blip r:embed="rId5"/>
            <a:stretch>
              <a:fillRect t="-9232"/>
            </a:stretch>
          </a:blipFill>
        </p:spPr>
      </p:sp>
      <p:sp>
        <p:nvSpPr>
          <p:cNvPr id="6" name="TextBox 6"/>
          <p:cNvSpPr txBox="1"/>
          <p:nvPr/>
        </p:nvSpPr>
        <p:spPr>
          <a:xfrm>
            <a:off x="5363586" y="224156"/>
            <a:ext cx="7819013" cy="1566544"/>
          </a:xfrm>
          <a:prstGeom prst="rect">
            <a:avLst/>
          </a:prstGeom>
        </p:spPr>
        <p:txBody>
          <a:bodyPr wrap="square" lIns="0" tIns="0" rIns="0" bIns="0" rtlCol="0" anchor="t">
            <a:spAutoFit/>
          </a:bodyPr>
          <a:lstStyle/>
          <a:p>
            <a:pPr algn="ctr">
              <a:lnSpc>
                <a:spcPts val="12880"/>
              </a:lnSpc>
            </a:pPr>
            <a:r>
              <a:rPr lang="en-US" sz="9200" b="1" dirty="0">
                <a:solidFill>
                  <a:srgbClr val="000000"/>
                </a:solidFill>
                <a:latin typeface="Canva Sans Bold"/>
                <a:ea typeface="Canva Sans Bold"/>
                <a:cs typeface="Canva Sans Bold"/>
                <a:sym typeface="Canva Sans Bold"/>
              </a:rPr>
              <a:t>MOTIVATION</a:t>
            </a:r>
          </a:p>
        </p:txBody>
      </p:sp>
      <p:sp>
        <p:nvSpPr>
          <p:cNvPr id="7" name="TextBox 7"/>
          <p:cNvSpPr txBox="1"/>
          <p:nvPr/>
        </p:nvSpPr>
        <p:spPr>
          <a:xfrm>
            <a:off x="13012072" y="1867414"/>
            <a:ext cx="3375703" cy="1859404"/>
          </a:xfrm>
          <a:prstGeom prst="rect">
            <a:avLst/>
          </a:prstGeom>
        </p:spPr>
        <p:txBody>
          <a:bodyPr lIns="0" tIns="0" rIns="0" bIns="0" rtlCol="0" anchor="t">
            <a:spAutoFit/>
          </a:bodyPr>
          <a:lstStyle/>
          <a:p>
            <a:pPr algn="ctr">
              <a:lnSpc>
                <a:spcPts val="3707"/>
              </a:lnSpc>
            </a:pPr>
            <a:r>
              <a:rPr lang="en-US" sz="2648" b="1">
                <a:solidFill>
                  <a:srgbClr val="000000"/>
                </a:solidFill>
                <a:latin typeface="Canva Sans Bold"/>
                <a:ea typeface="Canva Sans Bold"/>
                <a:cs typeface="Canva Sans Bold"/>
                <a:sym typeface="Canva Sans Bold"/>
              </a:rPr>
              <a:t>SOURCE</a:t>
            </a:r>
          </a:p>
          <a:p>
            <a:pPr marL="571736" lvl="1" indent="-285868" algn="l">
              <a:lnSpc>
                <a:spcPts val="3707"/>
              </a:lnSpc>
              <a:buFont typeface="Arial"/>
              <a:buChar char="•"/>
            </a:pPr>
            <a:r>
              <a:rPr lang="en-US" sz="2648">
                <a:solidFill>
                  <a:srgbClr val="000000"/>
                </a:solidFill>
                <a:latin typeface="Canva Sans"/>
                <a:ea typeface="Canva Sans"/>
                <a:cs typeface="Canva Sans"/>
                <a:sym typeface="Canva Sans"/>
              </a:rPr>
              <a:t>Hindustan Times</a:t>
            </a:r>
          </a:p>
          <a:p>
            <a:pPr marL="571736" lvl="1" indent="-285868" algn="l">
              <a:lnSpc>
                <a:spcPts val="3707"/>
              </a:lnSpc>
              <a:buFont typeface="Arial"/>
              <a:buChar char="•"/>
            </a:pPr>
            <a:r>
              <a:rPr lang="en-US" sz="2648">
                <a:solidFill>
                  <a:srgbClr val="000000"/>
                </a:solidFill>
                <a:latin typeface="Canva Sans"/>
                <a:ea typeface="Canva Sans"/>
                <a:cs typeface="Canva Sans"/>
                <a:sym typeface="Canva Sans"/>
              </a:rPr>
              <a:t>Deccan Herald</a:t>
            </a:r>
          </a:p>
          <a:p>
            <a:pPr marL="571736" lvl="1" indent="-285868" algn="l">
              <a:lnSpc>
                <a:spcPts val="3707"/>
              </a:lnSpc>
              <a:buFont typeface="Arial"/>
              <a:buChar char="•"/>
            </a:pPr>
            <a:r>
              <a:rPr lang="en-US" sz="2648">
                <a:solidFill>
                  <a:srgbClr val="000000"/>
                </a:solidFill>
                <a:latin typeface="Canva Sans"/>
                <a:ea typeface="Canva Sans"/>
                <a:cs typeface="Canva Sans"/>
                <a:sym typeface="Canva Sans"/>
              </a:rPr>
              <a:t>Economics Times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2553980" y="866775"/>
            <a:ext cx="13180039" cy="1450976"/>
          </a:xfrm>
          <a:prstGeom prst="rect">
            <a:avLst/>
          </a:prstGeom>
        </p:spPr>
        <p:txBody>
          <a:bodyPr lIns="0" tIns="0" rIns="0" bIns="0" rtlCol="0" anchor="t">
            <a:spAutoFit/>
          </a:bodyPr>
          <a:lstStyle/>
          <a:p>
            <a:pPr algn="ctr">
              <a:lnSpc>
                <a:spcPts val="11899"/>
              </a:lnSpc>
            </a:pPr>
            <a:r>
              <a:rPr lang="en-US" sz="8499">
                <a:solidFill>
                  <a:srgbClr val="000000"/>
                </a:solidFill>
                <a:latin typeface="Alatsi"/>
                <a:ea typeface="Alatsi"/>
                <a:cs typeface="Alatsi"/>
                <a:sym typeface="Alatsi"/>
              </a:rPr>
              <a:t>OVERVIEW</a:t>
            </a:r>
          </a:p>
        </p:txBody>
      </p:sp>
      <p:sp>
        <p:nvSpPr>
          <p:cNvPr id="3" name="TextBox 3"/>
          <p:cNvSpPr txBox="1"/>
          <p:nvPr/>
        </p:nvSpPr>
        <p:spPr>
          <a:xfrm>
            <a:off x="5702946" y="8800282"/>
            <a:ext cx="6882108" cy="464820"/>
          </a:xfrm>
          <a:prstGeom prst="rect">
            <a:avLst/>
          </a:prstGeom>
        </p:spPr>
        <p:txBody>
          <a:bodyPr lIns="0" tIns="0" rIns="0" bIns="0" rtlCol="0" anchor="t">
            <a:spAutoFit/>
          </a:bodyPr>
          <a:lstStyle/>
          <a:p>
            <a:pPr algn="ctr">
              <a:lnSpc>
                <a:spcPts val="3779"/>
              </a:lnSpc>
            </a:pPr>
            <a:r>
              <a:rPr lang="en-US" sz="2700">
                <a:solidFill>
                  <a:srgbClr val="000000"/>
                </a:solidFill>
                <a:latin typeface="Alatsi"/>
                <a:ea typeface="Alatsi"/>
                <a:cs typeface="Alatsi"/>
                <a:sym typeface="Alatsi"/>
              </a:rPr>
              <a:t>IIIT Pune | 2026</a:t>
            </a:r>
          </a:p>
        </p:txBody>
      </p:sp>
      <p:sp>
        <p:nvSpPr>
          <p:cNvPr id="4" name="TextBox 4"/>
          <p:cNvSpPr txBox="1"/>
          <p:nvPr/>
        </p:nvSpPr>
        <p:spPr>
          <a:xfrm>
            <a:off x="1491263" y="3690450"/>
            <a:ext cx="4874726" cy="629920"/>
          </a:xfrm>
          <a:prstGeom prst="rect">
            <a:avLst/>
          </a:prstGeom>
        </p:spPr>
        <p:txBody>
          <a:bodyPr lIns="0" tIns="0" rIns="0" bIns="0" rtlCol="0" anchor="t">
            <a:spAutoFit/>
          </a:bodyPr>
          <a:lstStyle/>
          <a:p>
            <a:pPr marL="798829" lvl="1" indent="-399415" algn="l">
              <a:lnSpc>
                <a:spcPts val="5179"/>
              </a:lnSpc>
              <a:buFont typeface="Arial"/>
              <a:buChar char="•"/>
            </a:pPr>
            <a:r>
              <a:rPr lang="en-US" sz="3699">
                <a:solidFill>
                  <a:srgbClr val="000000"/>
                </a:solidFill>
                <a:latin typeface="Alatsi"/>
                <a:ea typeface="Alatsi"/>
                <a:cs typeface="Alatsi"/>
                <a:sym typeface="Alatsi"/>
              </a:rPr>
              <a:t>Problem Statement</a:t>
            </a:r>
          </a:p>
        </p:txBody>
      </p:sp>
      <p:sp>
        <p:nvSpPr>
          <p:cNvPr id="5" name="TextBox 5"/>
          <p:cNvSpPr txBox="1"/>
          <p:nvPr/>
        </p:nvSpPr>
        <p:spPr>
          <a:xfrm>
            <a:off x="1491263" y="4793785"/>
            <a:ext cx="4480960" cy="629920"/>
          </a:xfrm>
          <a:prstGeom prst="rect">
            <a:avLst/>
          </a:prstGeom>
        </p:spPr>
        <p:txBody>
          <a:bodyPr lIns="0" tIns="0" rIns="0" bIns="0" rtlCol="0" anchor="t">
            <a:spAutoFit/>
          </a:bodyPr>
          <a:lstStyle/>
          <a:p>
            <a:pPr marL="798829" lvl="1" indent="-399415" algn="l">
              <a:lnSpc>
                <a:spcPts val="5179"/>
              </a:lnSpc>
              <a:buFont typeface="Arial"/>
              <a:buChar char="•"/>
            </a:pPr>
            <a:r>
              <a:rPr lang="en-US" sz="3699">
                <a:solidFill>
                  <a:srgbClr val="000000"/>
                </a:solidFill>
                <a:latin typeface="Alatsi"/>
                <a:ea typeface="Alatsi"/>
                <a:cs typeface="Alatsi"/>
                <a:sym typeface="Alatsi"/>
              </a:rPr>
              <a:t>Methodology</a:t>
            </a:r>
          </a:p>
        </p:txBody>
      </p:sp>
      <p:sp>
        <p:nvSpPr>
          <p:cNvPr id="6" name="TextBox 6"/>
          <p:cNvSpPr txBox="1"/>
          <p:nvPr/>
        </p:nvSpPr>
        <p:spPr>
          <a:xfrm>
            <a:off x="6732717" y="6075385"/>
            <a:ext cx="5241454" cy="629920"/>
          </a:xfrm>
          <a:prstGeom prst="rect">
            <a:avLst/>
          </a:prstGeom>
        </p:spPr>
        <p:txBody>
          <a:bodyPr lIns="0" tIns="0" rIns="0" bIns="0" rtlCol="0" anchor="t">
            <a:spAutoFit/>
          </a:bodyPr>
          <a:lstStyle/>
          <a:p>
            <a:pPr marL="798829" lvl="1" indent="-399415" algn="l">
              <a:lnSpc>
                <a:spcPts val="5179"/>
              </a:lnSpc>
              <a:buFont typeface="Arial"/>
              <a:buChar char="•"/>
            </a:pPr>
            <a:r>
              <a:rPr lang="en-US" sz="3699">
                <a:solidFill>
                  <a:srgbClr val="000000"/>
                </a:solidFill>
                <a:latin typeface="Alatsi"/>
                <a:ea typeface="Alatsi"/>
                <a:cs typeface="Alatsi"/>
                <a:sym typeface="Alatsi"/>
              </a:rPr>
              <a:t>Future Scope</a:t>
            </a:r>
          </a:p>
        </p:txBody>
      </p:sp>
      <p:sp>
        <p:nvSpPr>
          <p:cNvPr id="7" name="TextBox 7"/>
          <p:cNvSpPr txBox="1"/>
          <p:nvPr/>
        </p:nvSpPr>
        <p:spPr>
          <a:xfrm>
            <a:off x="6732717" y="3724150"/>
            <a:ext cx="4480960" cy="629920"/>
          </a:xfrm>
          <a:prstGeom prst="rect">
            <a:avLst/>
          </a:prstGeom>
        </p:spPr>
        <p:txBody>
          <a:bodyPr lIns="0" tIns="0" rIns="0" bIns="0" rtlCol="0" anchor="t">
            <a:spAutoFit/>
          </a:bodyPr>
          <a:lstStyle/>
          <a:p>
            <a:pPr marL="798829" lvl="1" indent="-399415" algn="l">
              <a:lnSpc>
                <a:spcPts val="5179"/>
              </a:lnSpc>
              <a:buFont typeface="Arial"/>
              <a:buChar char="•"/>
            </a:pPr>
            <a:r>
              <a:rPr lang="en-US" sz="3699">
                <a:solidFill>
                  <a:srgbClr val="000000"/>
                </a:solidFill>
                <a:latin typeface="Alatsi"/>
                <a:ea typeface="Alatsi"/>
                <a:cs typeface="Alatsi"/>
                <a:sym typeface="Alatsi"/>
              </a:rPr>
              <a:t>Literature Review</a:t>
            </a:r>
          </a:p>
        </p:txBody>
      </p:sp>
      <p:sp>
        <p:nvSpPr>
          <p:cNvPr id="8" name="TextBox 8"/>
          <p:cNvSpPr txBox="1"/>
          <p:nvPr/>
        </p:nvSpPr>
        <p:spPr>
          <a:xfrm>
            <a:off x="6732717" y="4812052"/>
            <a:ext cx="4480960" cy="629920"/>
          </a:xfrm>
          <a:prstGeom prst="rect">
            <a:avLst/>
          </a:prstGeom>
        </p:spPr>
        <p:txBody>
          <a:bodyPr lIns="0" tIns="0" rIns="0" bIns="0" rtlCol="0" anchor="t">
            <a:spAutoFit/>
          </a:bodyPr>
          <a:lstStyle/>
          <a:p>
            <a:pPr marL="798829" lvl="1" indent="-399415" algn="l">
              <a:lnSpc>
                <a:spcPts val="5179"/>
              </a:lnSpc>
              <a:buFont typeface="Arial"/>
              <a:buChar char="•"/>
            </a:pPr>
            <a:r>
              <a:rPr lang="en-US" sz="3699">
                <a:solidFill>
                  <a:srgbClr val="000000"/>
                </a:solidFill>
                <a:latin typeface="Alatsi"/>
                <a:ea typeface="Alatsi"/>
                <a:cs typeface="Alatsi"/>
                <a:sym typeface="Alatsi"/>
              </a:rPr>
              <a:t>Implementation</a:t>
            </a:r>
          </a:p>
        </p:txBody>
      </p:sp>
      <p:sp>
        <p:nvSpPr>
          <p:cNvPr id="9" name="TextBox 9"/>
          <p:cNvSpPr txBox="1"/>
          <p:nvPr/>
        </p:nvSpPr>
        <p:spPr>
          <a:xfrm>
            <a:off x="12159501" y="3690450"/>
            <a:ext cx="4480960" cy="629920"/>
          </a:xfrm>
          <a:prstGeom prst="rect">
            <a:avLst/>
          </a:prstGeom>
        </p:spPr>
        <p:txBody>
          <a:bodyPr lIns="0" tIns="0" rIns="0" bIns="0" rtlCol="0" anchor="t">
            <a:spAutoFit/>
          </a:bodyPr>
          <a:lstStyle/>
          <a:p>
            <a:pPr marL="798829" lvl="1" indent="-399415" algn="l">
              <a:lnSpc>
                <a:spcPts val="5179"/>
              </a:lnSpc>
              <a:buFont typeface="Arial"/>
              <a:buChar char="•"/>
            </a:pPr>
            <a:r>
              <a:rPr lang="en-US" sz="3699">
                <a:solidFill>
                  <a:srgbClr val="000000"/>
                </a:solidFill>
                <a:latin typeface="Alatsi"/>
                <a:ea typeface="Alatsi"/>
                <a:cs typeface="Alatsi"/>
                <a:sym typeface="Alatsi"/>
              </a:rPr>
              <a:t>Research Gap</a:t>
            </a:r>
          </a:p>
        </p:txBody>
      </p:sp>
      <p:sp>
        <p:nvSpPr>
          <p:cNvPr id="10" name="TextBox 10"/>
          <p:cNvSpPr txBox="1"/>
          <p:nvPr/>
        </p:nvSpPr>
        <p:spPr>
          <a:xfrm>
            <a:off x="12159501" y="4793785"/>
            <a:ext cx="4480960" cy="629920"/>
          </a:xfrm>
          <a:prstGeom prst="rect">
            <a:avLst/>
          </a:prstGeom>
        </p:spPr>
        <p:txBody>
          <a:bodyPr lIns="0" tIns="0" rIns="0" bIns="0" rtlCol="0" anchor="t">
            <a:spAutoFit/>
          </a:bodyPr>
          <a:lstStyle/>
          <a:p>
            <a:pPr marL="798829" lvl="1" indent="-399415" algn="l">
              <a:lnSpc>
                <a:spcPts val="5179"/>
              </a:lnSpc>
              <a:buFont typeface="Arial"/>
              <a:buChar char="•"/>
            </a:pPr>
            <a:r>
              <a:rPr lang="en-US" sz="3699">
                <a:solidFill>
                  <a:srgbClr val="000000"/>
                </a:solidFill>
                <a:latin typeface="Alatsi"/>
                <a:ea typeface="Alatsi"/>
                <a:cs typeface="Alatsi"/>
                <a:sym typeface="Alatsi"/>
              </a:rPr>
              <a:t>Dataset</a:t>
            </a:r>
          </a:p>
        </p:txBody>
      </p:sp>
      <p:sp>
        <p:nvSpPr>
          <p:cNvPr id="11" name="AutoShape 11"/>
          <p:cNvSpPr/>
          <p:nvPr/>
        </p:nvSpPr>
        <p:spPr>
          <a:xfrm>
            <a:off x="-260599" y="9061267"/>
            <a:ext cx="7105264" cy="19050"/>
          </a:xfrm>
          <a:prstGeom prst="line">
            <a:avLst/>
          </a:prstGeom>
          <a:ln w="114300" cap="flat">
            <a:solidFill>
              <a:srgbClr val="9FC3D0"/>
            </a:solidFill>
            <a:prstDash val="solid"/>
            <a:headEnd type="none" w="sm" len="sm"/>
            <a:tailEnd type="none" w="sm" len="sm"/>
          </a:ln>
        </p:spPr>
      </p:sp>
      <p:sp>
        <p:nvSpPr>
          <p:cNvPr id="12" name="AutoShape 12"/>
          <p:cNvSpPr/>
          <p:nvPr/>
        </p:nvSpPr>
        <p:spPr>
          <a:xfrm>
            <a:off x="11430169" y="9061267"/>
            <a:ext cx="7105264" cy="19050"/>
          </a:xfrm>
          <a:prstGeom prst="line">
            <a:avLst/>
          </a:prstGeom>
          <a:ln w="114300" cap="flat">
            <a:solidFill>
              <a:srgbClr val="9FC3D0"/>
            </a:solidFill>
            <a:prstDash val="solid"/>
            <a:headEnd type="none" w="sm" len="sm"/>
            <a:tailEnd type="none" w="sm" len="sm"/>
          </a:ln>
        </p:spPr>
      </p:sp>
      <p:grpSp>
        <p:nvGrpSpPr>
          <p:cNvPr id="13" name="Group 13"/>
          <p:cNvGrpSpPr/>
          <p:nvPr/>
        </p:nvGrpSpPr>
        <p:grpSpPr>
          <a:xfrm>
            <a:off x="15859155" y="0"/>
            <a:ext cx="1562612" cy="1673225"/>
            <a:chOff x="0" y="0"/>
            <a:chExt cx="2083482" cy="2230967"/>
          </a:xfrm>
        </p:grpSpPr>
        <p:grpSp>
          <p:nvGrpSpPr>
            <p:cNvPr id="14" name="Group 14"/>
            <p:cNvGrpSpPr/>
            <p:nvPr/>
          </p:nvGrpSpPr>
          <p:grpSpPr>
            <a:xfrm>
              <a:off x="75599" y="0"/>
              <a:ext cx="1932284" cy="2230967"/>
              <a:chOff x="0" y="0"/>
              <a:chExt cx="703982" cy="812800"/>
            </a:xfrm>
          </p:grpSpPr>
          <p:sp>
            <p:nvSpPr>
              <p:cNvPr id="15" name="Freeform 15"/>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id="16" name="TextBox 16"/>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17" name="TextBox 17"/>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b="1">
                  <a:solidFill>
                    <a:srgbClr val="000000"/>
                  </a:solidFill>
                  <a:latin typeface="Open Sans Bold"/>
                  <a:ea typeface="Open Sans Bold"/>
                  <a:cs typeface="Open Sans Bold"/>
                  <a:sym typeface="Open Sans Bold"/>
                </a:rPr>
                <a:t>1</a:t>
              </a:r>
            </a:p>
          </p:txBody>
        </p:sp>
      </p:grpSp>
      <p:sp>
        <p:nvSpPr>
          <p:cNvPr id="18" name="Freeform 18"/>
          <p:cNvSpPr/>
          <p:nvPr/>
        </p:nvSpPr>
        <p:spPr>
          <a:xfrm>
            <a:off x="13601700" y="6142060"/>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9" name="TextBox 19"/>
          <p:cNvSpPr txBox="1"/>
          <p:nvPr/>
        </p:nvSpPr>
        <p:spPr>
          <a:xfrm>
            <a:off x="12159501" y="6075385"/>
            <a:ext cx="4480960" cy="629920"/>
          </a:xfrm>
          <a:prstGeom prst="rect">
            <a:avLst/>
          </a:prstGeom>
        </p:spPr>
        <p:txBody>
          <a:bodyPr lIns="0" tIns="0" rIns="0" bIns="0" rtlCol="0" anchor="t">
            <a:spAutoFit/>
          </a:bodyPr>
          <a:lstStyle/>
          <a:p>
            <a:pPr marL="798829" lvl="1" indent="-399415" algn="l">
              <a:lnSpc>
                <a:spcPts val="5179"/>
              </a:lnSpc>
              <a:buFont typeface="Arial"/>
              <a:buChar char="•"/>
            </a:pPr>
            <a:r>
              <a:rPr lang="en-US" sz="3699">
                <a:solidFill>
                  <a:srgbClr val="000000"/>
                </a:solidFill>
                <a:latin typeface="Alatsi"/>
                <a:ea typeface="Alatsi"/>
                <a:cs typeface="Alatsi"/>
                <a:sym typeface="Alatsi"/>
              </a:rPr>
              <a:t>References</a:t>
            </a:r>
          </a:p>
        </p:txBody>
      </p:sp>
      <p:sp>
        <p:nvSpPr>
          <p:cNvPr id="20" name="TextBox 20"/>
          <p:cNvSpPr txBox="1"/>
          <p:nvPr/>
        </p:nvSpPr>
        <p:spPr>
          <a:xfrm>
            <a:off x="1491263" y="6075385"/>
            <a:ext cx="5241454" cy="629920"/>
          </a:xfrm>
          <a:prstGeom prst="rect">
            <a:avLst/>
          </a:prstGeom>
        </p:spPr>
        <p:txBody>
          <a:bodyPr lIns="0" tIns="0" rIns="0" bIns="0" rtlCol="0" anchor="t">
            <a:spAutoFit/>
          </a:bodyPr>
          <a:lstStyle/>
          <a:p>
            <a:pPr marL="798829" lvl="1" indent="-399415" algn="l">
              <a:lnSpc>
                <a:spcPts val="5179"/>
              </a:lnSpc>
              <a:buFont typeface="Arial"/>
              <a:buChar char="•"/>
            </a:pPr>
            <a:r>
              <a:rPr lang="en-US" sz="3699">
                <a:solidFill>
                  <a:srgbClr val="000000"/>
                </a:solidFill>
                <a:latin typeface="Alatsi"/>
                <a:ea typeface="Alatsi"/>
                <a:cs typeface="Alatsi"/>
                <a:sym typeface="Alatsi"/>
              </a:rPr>
              <a:t>Results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5702946" y="9201150"/>
            <a:ext cx="6882108" cy="464820"/>
          </a:xfrm>
          <a:prstGeom prst="rect">
            <a:avLst/>
          </a:prstGeom>
        </p:spPr>
        <p:txBody>
          <a:bodyPr lIns="0" tIns="0" rIns="0" bIns="0" rtlCol="0" anchor="t">
            <a:spAutoFit/>
          </a:bodyPr>
          <a:lstStyle/>
          <a:p>
            <a:pPr algn="ctr">
              <a:lnSpc>
                <a:spcPts val="3779"/>
              </a:lnSpc>
            </a:pPr>
            <a:r>
              <a:rPr lang="en-US" sz="2700">
                <a:solidFill>
                  <a:srgbClr val="000000"/>
                </a:solidFill>
                <a:latin typeface="Alatsi"/>
                <a:ea typeface="Alatsi"/>
                <a:cs typeface="Alatsi"/>
                <a:sym typeface="Alatsi"/>
              </a:rPr>
              <a:t>IIIT Pune | 2026</a:t>
            </a:r>
          </a:p>
        </p:txBody>
      </p:sp>
      <p:sp>
        <p:nvSpPr>
          <p:cNvPr id="3" name="AutoShape 3"/>
          <p:cNvSpPr/>
          <p:nvPr/>
        </p:nvSpPr>
        <p:spPr>
          <a:xfrm>
            <a:off x="-198602" y="9484177"/>
            <a:ext cx="7105264" cy="19050"/>
          </a:xfrm>
          <a:prstGeom prst="line">
            <a:avLst/>
          </a:prstGeom>
          <a:ln w="114300" cap="flat">
            <a:solidFill>
              <a:srgbClr val="9FC3D0"/>
            </a:solidFill>
            <a:prstDash val="solid"/>
            <a:headEnd type="none" w="sm" len="sm"/>
            <a:tailEnd type="none" w="sm" len="sm"/>
          </a:ln>
        </p:spPr>
      </p:sp>
      <p:sp>
        <p:nvSpPr>
          <p:cNvPr id="4" name="Freeform 4"/>
          <p:cNvSpPr/>
          <p:nvPr/>
        </p:nvSpPr>
        <p:spPr>
          <a:xfrm>
            <a:off x="13764167" y="6208199"/>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AutoShape 5"/>
          <p:cNvSpPr/>
          <p:nvPr/>
        </p:nvSpPr>
        <p:spPr>
          <a:xfrm>
            <a:off x="11430169" y="9493702"/>
            <a:ext cx="7105264" cy="19050"/>
          </a:xfrm>
          <a:prstGeom prst="line">
            <a:avLst/>
          </a:prstGeom>
          <a:ln w="114300" cap="flat">
            <a:solidFill>
              <a:srgbClr val="9FC3D0"/>
            </a:solidFill>
            <a:prstDash val="solid"/>
            <a:headEnd type="none" w="sm" len="sm"/>
            <a:tailEnd type="none" w="sm" len="sm"/>
          </a:ln>
        </p:spPr>
      </p:sp>
      <p:grpSp>
        <p:nvGrpSpPr>
          <p:cNvPr id="6" name="Group 6"/>
          <p:cNvGrpSpPr/>
          <p:nvPr/>
        </p:nvGrpSpPr>
        <p:grpSpPr>
          <a:xfrm>
            <a:off x="15859155" y="0"/>
            <a:ext cx="1562612" cy="1673225"/>
            <a:chOff x="0" y="0"/>
            <a:chExt cx="2083482" cy="2230967"/>
          </a:xfrm>
        </p:grpSpPr>
        <p:grpSp>
          <p:nvGrpSpPr>
            <p:cNvPr id="7" name="Group 7"/>
            <p:cNvGrpSpPr/>
            <p:nvPr/>
          </p:nvGrpSpPr>
          <p:grpSpPr>
            <a:xfrm>
              <a:off x="75599" y="0"/>
              <a:ext cx="1932284" cy="2230967"/>
              <a:chOff x="0" y="0"/>
              <a:chExt cx="703982" cy="812800"/>
            </a:xfrm>
          </p:grpSpPr>
          <p:sp>
            <p:nvSpPr>
              <p:cNvPr id="8" name="Freeform 8"/>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id="9" name="TextBox 9"/>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b="1">
                  <a:solidFill>
                    <a:srgbClr val="000000"/>
                  </a:solidFill>
                  <a:latin typeface="Open Sans Bold"/>
                  <a:ea typeface="Open Sans Bold"/>
                  <a:cs typeface="Open Sans Bold"/>
                  <a:sym typeface="Open Sans Bold"/>
                </a:rPr>
                <a:t>2</a:t>
              </a:r>
            </a:p>
          </p:txBody>
        </p:sp>
      </p:grpSp>
      <p:sp>
        <p:nvSpPr>
          <p:cNvPr id="11" name="Freeform 11"/>
          <p:cNvSpPr/>
          <p:nvPr/>
        </p:nvSpPr>
        <p:spPr>
          <a:xfrm>
            <a:off x="55012" y="89674"/>
            <a:ext cx="1947377" cy="1493878"/>
          </a:xfrm>
          <a:custGeom>
            <a:avLst/>
            <a:gdLst/>
            <a:ahLst/>
            <a:cxnLst/>
            <a:rect l="l" t="t" r="r" b="b"/>
            <a:pathLst>
              <a:path w="1947377" h="1493878">
                <a:moveTo>
                  <a:pt x="0" y="0"/>
                </a:moveTo>
                <a:lnTo>
                  <a:pt x="1947376" y="0"/>
                </a:lnTo>
                <a:lnTo>
                  <a:pt x="1947376" y="1493878"/>
                </a:lnTo>
                <a:lnTo>
                  <a:pt x="0" y="1493878"/>
                </a:lnTo>
                <a:lnTo>
                  <a:pt x="0" y="0"/>
                </a:lnTo>
                <a:close/>
              </a:path>
            </a:pathLst>
          </a:custGeom>
          <a:blipFill>
            <a:blip r:embed="rId3"/>
            <a:stretch>
              <a:fillRect l="-15477" t="-31808" r="-11400" b="-23857"/>
            </a:stretch>
          </a:blipFill>
        </p:spPr>
      </p:sp>
      <p:sp>
        <p:nvSpPr>
          <p:cNvPr id="12" name="TextBox 12"/>
          <p:cNvSpPr txBox="1"/>
          <p:nvPr/>
        </p:nvSpPr>
        <p:spPr>
          <a:xfrm>
            <a:off x="2553980" y="132576"/>
            <a:ext cx="13180039" cy="1450976"/>
          </a:xfrm>
          <a:prstGeom prst="rect">
            <a:avLst/>
          </a:prstGeom>
        </p:spPr>
        <p:txBody>
          <a:bodyPr lIns="0" tIns="0" rIns="0" bIns="0" rtlCol="0" anchor="t">
            <a:spAutoFit/>
          </a:bodyPr>
          <a:lstStyle/>
          <a:p>
            <a:pPr algn="ctr">
              <a:lnSpc>
                <a:spcPts val="11899"/>
              </a:lnSpc>
            </a:pPr>
            <a:r>
              <a:rPr lang="en-US" sz="8499">
                <a:solidFill>
                  <a:srgbClr val="000000"/>
                </a:solidFill>
                <a:latin typeface="Alatsi"/>
                <a:ea typeface="Alatsi"/>
                <a:cs typeface="Alatsi"/>
                <a:sym typeface="Alatsi"/>
              </a:rPr>
              <a:t>PROBLEM STATEMENT</a:t>
            </a:r>
          </a:p>
        </p:txBody>
      </p:sp>
      <p:grpSp>
        <p:nvGrpSpPr>
          <p:cNvPr id="13" name="Group 13"/>
          <p:cNvGrpSpPr/>
          <p:nvPr/>
        </p:nvGrpSpPr>
        <p:grpSpPr>
          <a:xfrm>
            <a:off x="13315598" y="2830563"/>
            <a:ext cx="4306776" cy="4306757"/>
            <a:chOff x="0" y="0"/>
            <a:chExt cx="5742368" cy="5742343"/>
          </a:xfrm>
        </p:grpSpPr>
        <p:sp>
          <p:nvSpPr>
            <p:cNvPr id="14" name="Freeform 14"/>
            <p:cNvSpPr/>
            <p:nvPr/>
          </p:nvSpPr>
          <p:spPr>
            <a:xfrm>
              <a:off x="0" y="0"/>
              <a:ext cx="5742432" cy="5742305"/>
            </a:xfrm>
            <a:custGeom>
              <a:avLst/>
              <a:gdLst/>
              <a:ahLst/>
              <a:cxnLst/>
              <a:rect l="l" t="t" r="r" b="b"/>
              <a:pathLst>
                <a:path w="5742432" h="5742305">
                  <a:moveTo>
                    <a:pt x="0" y="0"/>
                  </a:moveTo>
                  <a:lnTo>
                    <a:pt x="5742432" y="0"/>
                  </a:lnTo>
                  <a:lnTo>
                    <a:pt x="5742432" y="5742305"/>
                  </a:lnTo>
                  <a:lnTo>
                    <a:pt x="0" y="5742305"/>
                  </a:lnTo>
                  <a:close/>
                </a:path>
              </a:pathLst>
            </a:custGeom>
            <a:blipFill>
              <a:blip r:embed="rId4"/>
              <a:stretch>
                <a:fillRect r="1"/>
              </a:stretch>
            </a:blipFill>
          </p:spPr>
        </p:sp>
      </p:grpSp>
      <p:sp>
        <p:nvSpPr>
          <p:cNvPr id="15" name="TextBox 15"/>
          <p:cNvSpPr txBox="1"/>
          <p:nvPr/>
        </p:nvSpPr>
        <p:spPr>
          <a:xfrm>
            <a:off x="1302001" y="1616075"/>
            <a:ext cx="10793711" cy="1029208"/>
          </a:xfrm>
          <a:prstGeom prst="rect">
            <a:avLst/>
          </a:prstGeom>
        </p:spPr>
        <p:txBody>
          <a:bodyPr lIns="0" tIns="0" rIns="0" bIns="0" rtlCol="0" anchor="t">
            <a:spAutoFit/>
          </a:bodyPr>
          <a:lstStyle/>
          <a:p>
            <a:pPr marL="681228" lvl="2" indent="-227076" algn="l">
              <a:lnSpc>
                <a:spcPts val="4172"/>
              </a:lnSpc>
              <a:buFont typeface="Arial"/>
              <a:buChar char="⚬"/>
            </a:pPr>
            <a:r>
              <a:rPr lang="en-US" sz="2980">
                <a:solidFill>
                  <a:srgbClr val="000000"/>
                </a:solidFill>
                <a:latin typeface="Alatsi"/>
                <a:ea typeface="Alatsi"/>
                <a:cs typeface="Alatsi"/>
                <a:sym typeface="Alatsi"/>
              </a:rPr>
              <a:t>Agriculture plays a vital role in feeding the world’s population, and plays a major role in a nation’s economy. </a:t>
            </a:r>
          </a:p>
        </p:txBody>
      </p:sp>
      <p:sp>
        <p:nvSpPr>
          <p:cNvPr id="16" name="TextBox 16"/>
          <p:cNvSpPr txBox="1"/>
          <p:nvPr/>
        </p:nvSpPr>
        <p:spPr>
          <a:xfrm>
            <a:off x="1302001" y="4373489"/>
            <a:ext cx="11209630" cy="1086345"/>
          </a:xfrm>
          <a:prstGeom prst="rect">
            <a:avLst/>
          </a:prstGeom>
        </p:spPr>
        <p:txBody>
          <a:bodyPr lIns="0" tIns="0" rIns="0" bIns="0" rtlCol="0" anchor="t">
            <a:spAutoFit/>
          </a:bodyPr>
          <a:lstStyle/>
          <a:p>
            <a:pPr marL="681273" lvl="2" indent="-227091" algn="l">
              <a:lnSpc>
                <a:spcPts val="4172"/>
              </a:lnSpc>
              <a:buFont typeface="Arial"/>
              <a:buChar char="⚬"/>
            </a:pPr>
            <a:r>
              <a:rPr lang="en-US" sz="2980">
                <a:solidFill>
                  <a:srgbClr val="000000"/>
                </a:solidFill>
                <a:latin typeface="Alatsi"/>
                <a:ea typeface="Alatsi"/>
                <a:cs typeface="Alatsi"/>
                <a:sym typeface="Alatsi"/>
              </a:rPr>
              <a:t> Early detection and identification of plant diseases are critical to ensuring food security and maintaining ecosystem balance.</a:t>
            </a:r>
          </a:p>
        </p:txBody>
      </p:sp>
      <p:sp>
        <p:nvSpPr>
          <p:cNvPr id="17" name="TextBox 17"/>
          <p:cNvSpPr txBox="1"/>
          <p:nvPr/>
        </p:nvSpPr>
        <p:spPr>
          <a:xfrm>
            <a:off x="1302001" y="7075762"/>
            <a:ext cx="12688948" cy="1553083"/>
          </a:xfrm>
          <a:prstGeom prst="rect">
            <a:avLst/>
          </a:prstGeom>
        </p:spPr>
        <p:txBody>
          <a:bodyPr lIns="0" tIns="0" rIns="0" bIns="0" rtlCol="0" anchor="t">
            <a:spAutoFit/>
          </a:bodyPr>
          <a:lstStyle/>
          <a:p>
            <a:pPr marL="681273" lvl="2" indent="-227091" algn="l">
              <a:lnSpc>
                <a:spcPts val="4172"/>
              </a:lnSpc>
              <a:buFont typeface="Arial"/>
              <a:buChar char="⚬"/>
            </a:pPr>
            <a:r>
              <a:rPr lang="en-US" sz="2980">
                <a:solidFill>
                  <a:srgbClr val="000000"/>
                </a:solidFill>
                <a:latin typeface="Alatsi"/>
                <a:ea typeface="Alatsi"/>
                <a:cs typeface="Alatsi"/>
                <a:sym typeface="Alatsi"/>
              </a:rPr>
              <a:t> With advancements in deep learning, we can now assist in detecting plant species and their associated diseases. This project aims to use the power of Various Neural Networks  to analyze plant images.</a:t>
            </a:r>
          </a:p>
        </p:txBody>
      </p:sp>
      <p:sp>
        <p:nvSpPr>
          <p:cNvPr id="18" name="TextBox 18"/>
          <p:cNvSpPr txBox="1"/>
          <p:nvPr/>
        </p:nvSpPr>
        <p:spPr>
          <a:xfrm>
            <a:off x="1302001" y="2982344"/>
            <a:ext cx="10793711" cy="1086345"/>
          </a:xfrm>
          <a:prstGeom prst="rect">
            <a:avLst/>
          </a:prstGeom>
        </p:spPr>
        <p:txBody>
          <a:bodyPr lIns="0" tIns="0" rIns="0" bIns="0" rtlCol="0" anchor="t">
            <a:spAutoFit/>
          </a:bodyPr>
          <a:lstStyle/>
          <a:p>
            <a:pPr marL="681273" lvl="2" indent="-227091" algn="l">
              <a:lnSpc>
                <a:spcPts val="4172"/>
              </a:lnSpc>
              <a:buFont typeface="Arial"/>
              <a:buChar char="⚬"/>
            </a:pPr>
            <a:r>
              <a:rPr lang="en-US" sz="2980" dirty="0">
                <a:solidFill>
                  <a:srgbClr val="000000"/>
                </a:solidFill>
                <a:latin typeface="Alatsi"/>
                <a:ea typeface="Alatsi"/>
                <a:cs typeface="Alatsi"/>
                <a:sym typeface="Alatsi"/>
              </a:rPr>
              <a:t>But it is constantly challenged by plant diseases that can severely impact crop yield.</a:t>
            </a:r>
          </a:p>
        </p:txBody>
      </p:sp>
      <p:sp>
        <p:nvSpPr>
          <p:cNvPr id="19" name="TextBox 19"/>
          <p:cNvSpPr txBox="1"/>
          <p:nvPr/>
        </p:nvSpPr>
        <p:spPr>
          <a:xfrm>
            <a:off x="1302001" y="5764635"/>
            <a:ext cx="11514639" cy="1086345"/>
          </a:xfrm>
          <a:prstGeom prst="rect">
            <a:avLst/>
          </a:prstGeom>
        </p:spPr>
        <p:txBody>
          <a:bodyPr lIns="0" tIns="0" rIns="0" bIns="0" rtlCol="0" anchor="t">
            <a:spAutoFit/>
          </a:bodyPr>
          <a:lstStyle/>
          <a:p>
            <a:pPr marL="681273" lvl="2" indent="-227091" algn="l">
              <a:lnSpc>
                <a:spcPts val="4172"/>
              </a:lnSpc>
              <a:buFont typeface="Arial"/>
              <a:buChar char="⚬"/>
            </a:pPr>
            <a:r>
              <a:rPr lang="en-US" sz="2980">
                <a:solidFill>
                  <a:srgbClr val="000000"/>
                </a:solidFill>
                <a:latin typeface="Alatsi"/>
                <a:ea typeface="Alatsi"/>
                <a:cs typeface="Alatsi"/>
                <a:sym typeface="Alatsi"/>
              </a:rPr>
              <a:t>Detecting the species accurately can also help us to prevent the disease by following appropriate practises.</a:t>
            </a:r>
          </a:p>
        </p:txBody>
      </p:sp>
      <p:sp>
        <p:nvSpPr>
          <p:cNvPr id="21" name="TextBox 20">
            <a:extLst>
              <a:ext uri="{FF2B5EF4-FFF2-40B4-BE49-F238E27FC236}">
                <a16:creationId xmlns:a16="http://schemas.microsoft.com/office/drawing/2014/main" id="{5DA079C0-88D5-B5A9-65A2-6730FE04BC60}"/>
              </a:ext>
            </a:extLst>
          </p:cNvPr>
          <p:cNvSpPr txBox="1"/>
          <p:nvPr/>
        </p:nvSpPr>
        <p:spPr>
          <a:xfrm>
            <a:off x="13990949" y="7075762"/>
            <a:ext cx="3342676" cy="556884"/>
          </a:xfrm>
          <a:prstGeom prst="rect">
            <a:avLst/>
          </a:prstGeom>
          <a:noFill/>
        </p:spPr>
        <p:txBody>
          <a:bodyPr wrap="square">
            <a:spAutoFit/>
          </a:bodyPr>
          <a:lstStyle/>
          <a:p>
            <a:pPr marL="454182" lvl="2" algn="l">
              <a:lnSpc>
                <a:spcPts val="4172"/>
              </a:lnSpc>
            </a:pPr>
            <a:r>
              <a:rPr lang="en-US" sz="1800" dirty="0">
                <a:solidFill>
                  <a:srgbClr val="000000"/>
                </a:solidFill>
                <a:latin typeface="Alatsi"/>
                <a:ea typeface="Alatsi"/>
                <a:cs typeface="Alatsi"/>
                <a:sym typeface="Alatsi"/>
              </a:rPr>
              <a:t>Ref: AI generated Image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1095893" y="674688"/>
            <a:ext cx="16230600" cy="1450976"/>
          </a:xfrm>
          <a:prstGeom prst="rect">
            <a:avLst/>
          </a:prstGeom>
        </p:spPr>
        <p:txBody>
          <a:bodyPr lIns="0" tIns="0" rIns="0" bIns="0" rtlCol="0" anchor="t">
            <a:spAutoFit/>
          </a:bodyPr>
          <a:lstStyle/>
          <a:p>
            <a:pPr algn="ctr">
              <a:lnSpc>
                <a:spcPts val="11899"/>
              </a:lnSpc>
            </a:pPr>
            <a:r>
              <a:rPr lang="en-US" sz="8499">
                <a:solidFill>
                  <a:srgbClr val="000000"/>
                </a:solidFill>
                <a:latin typeface="Alatsi"/>
                <a:ea typeface="Alatsi"/>
                <a:cs typeface="Alatsi"/>
                <a:sym typeface="Alatsi"/>
              </a:rPr>
              <a:t>LITERARY REVIEW</a:t>
            </a:r>
          </a:p>
        </p:txBody>
      </p:sp>
      <p:grpSp>
        <p:nvGrpSpPr>
          <p:cNvPr id="3" name="Group 3"/>
          <p:cNvGrpSpPr/>
          <p:nvPr/>
        </p:nvGrpSpPr>
        <p:grpSpPr>
          <a:xfrm>
            <a:off x="627362" y="0"/>
            <a:ext cx="937061" cy="10287000"/>
            <a:chOff x="0" y="0"/>
            <a:chExt cx="246798" cy="2709333"/>
          </a:xfrm>
        </p:grpSpPr>
        <p:sp>
          <p:nvSpPr>
            <p:cNvPr id="4" name="Freeform 4"/>
            <p:cNvSpPr/>
            <p:nvPr/>
          </p:nvSpPr>
          <p:spPr>
            <a:xfrm>
              <a:off x="0" y="0"/>
              <a:ext cx="246798" cy="2709333"/>
            </a:xfrm>
            <a:custGeom>
              <a:avLst/>
              <a:gdLst/>
              <a:ahLst/>
              <a:cxnLst/>
              <a:rect l="l" t="t" r="r" b="b"/>
              <a:pathLst>
                <a:path w="246798" h="2709333">
                  <a:moveTo>
                    <a:pt x="0" y="0"/>
                  </a:moveTo>
                  <a:lnTo>
                    <a:pt x="246798" y="0"/>
                  </a:lnTo>
                  <a:lnTo>
                    <a:pt x="246798" y="2709333"/>
                  </a:lnTo>
                  <a:lnTo>
                    <a:pt x="0" y="2709333"/>
                  </a:lnTo>
                  <a:close/>
                </a:path>
              </a:pathLst>
            </a:custGeom>
            <a:solidFill>
              <a:srgbClr val="F6F3EB"/>
            </a:solidFill>
          </p:spPr>
        </p:sp>
        <p:sp>
          <p:nvSpPr>
            <p:cNvPr id="5" name="TextBox 5"/>
            <p:cNvSpPr txBox="1"/>
            <p:nvPr/>
          </p:nvSpPr>
          <p:spPr>
            <a:xfrm>
              <a:off x="0" y="-38100"/>
              <a:ext cx="246798" cy="2747433"/>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rot="-5400000">
            <a:off x="-2373736" y="4911090"/>
            <a:ext cx="6882108" cy="464820"/>
          </a:xfrm>
          <a:prstGeom prst="rect">
            <a:avLst/>
          </a:prstGeom>
        </p:spPr>
        <p:txBody>
          <a:bodyPr lIns="0" tIns="0" rIns="0" bIns="0" rtlCol="0" anchor="t">
            <a:spAutoFit/>
          </a:bodyPr>
          <a:lstStyle/>
          <a:p>
            <a:pPr algn="ctr">
              <a:lnSpc>
                <a:spcPts val="3779"/>
              </a:lnSpc>
            </a:pPr>
            <a:r>
              <a:rPr lang="en-US" sz="2700">
                <a:solidFill>
                  <a:srgbClr val="000000"/>
                </a:solidFill>
                <a:latin typeface="Alatsi"/>
                <a:ea typeface="Alatsi"/>
                <a:cs typeface="Alatsi"/>
                <a:sym typeface="Alatsi"/>
              </a:rPr>
              <a:t>IIIT Pune | 2026</a:t>
            </a:r>
          </a:p>
        </p:txBody>
      </p:sp>
      <p:sp>
        <p:nvSpPr>
          <p:cNvPr id="7" name="AutoShape 7"/>
          <p:cNvSpPr/>
          <p:nvPr/>
        </p:nvSpPr>
        <p:spPr>
          <a:xfrm flipH="1" flipV="1">
            <a:off x="1085850" y="7289441"/>
            <a:ext cx="5403" cy="2997456"/>
          </a:xfrm>
          <a:prstGeom prst="line">
            <a:avLst/>
          </a:prstGeom>
          <a:ln w="114300" cap="flat">
            <a:solidFill>
              <a:srgbClr val="9FC3D0"/>
            </a:solidFill>
            <a:prstDash val="solid"/>
            <a:headEnd type="none" w="sm" len="sm"/>
            <a:tailEnd type="none" w="sm" len="sm"/>
          </a:ln>
        </p:spPr>
      </p:sp>
      <p:sp>
        <p:nvSpPr>
          <p:cNvPr id="8" name="AutoShape 8"/>
          <p:cNvSpPr/>
          <p:nvPr/>
        </p:nvSpPr>
        <p:spPr>
          <a:xfrm flipH="1" flipV="1">
            <a:off x="1090490" y="-104525"/>
            <a:ext cx="5403" cy="2997456"/>
          </a:xfrm>
          <a:prstGeom prst="line">
            <a:avLst/>
          </a:prstGeom>
          <a:ln w="114300" cap="flat">
            <a:solidFill>
              <a:srgbClr val="9FC3D0"/>
            </a:solidFill>
            <a:prstDash val="solid"/>
            <a:headEnd type="none" w="sm" len="sm"/>
            <a:tailEnd type="none" w="sm" len="sm"/>
          </a:ln>
        </p:spPr>
      </p:sp>
      <p:grpSp>
        <p:nvGrpSpPr>
          <p:cNvPr id="9" name="Group 9"/>
          <p:cNvGrpSpPr/>
          <p:nvPr/>
        </p:nvGrpSpPr>
        <p:grpSpPr>
          <a:xfrm>
            <a:off x="15859155" y="0"/>
            <a:ext cx="1562612" cy="1673225"/>
            <a:chOff x="0" y="0"/>
            <a:chExt cx="2083482" cy="2230967"/>
          </a:xfrm>
        </p:grpSpPr>
        <p:grpSp>
          <p:nvGrpSpPr>
            <p:cNvPr id="10" name="Group 10"/>
            <p:cNvGrpSpPr/>
            <p:nvPr/>
          </p:nvGrpSpPr>
          <p:grpSpPr>
            <a:xfrm>
              <a:off x="75599" y="0"/>
              <a:ext cx="1932284" cy="2230967"/>
              <a:chOff x="0" y="0"/>
              <a:chExt cx="703982" cy="812800"/>
            </a:xfrm>
          </p:grpSpPr>
          <p:sp>
            <p:nvSpPr>
              <p:cNvPr id="11" name="Freeform 11"/>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id="12" name="TextBox 12"/>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13" name="TextBox 13"/>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b="1">
                  <a:solidFill>
                    <a:srgbClr val="000000"/>
                  </a:solidFill>
                  <a:latin typeface="Open Sans Bold"/>
                  <a:ea typeface="Open Sans Bold"/>
                  <a:cs typeface="Open Sans Bold"/>
                  <a:sym typeface="Open Sans Bold"/>
                </a:rPr>
                <a:t>3</a:t>
              </a:r>
            </a:p>
          </p:txBody>
        </p:sp>
      </p:grpSp>
      <p:graphicFrame>
        <p:nvGraphicFramePr>
          <p:cNvPr id="14" name="Table 14"/>
          <p:cNvGraphicFramePr>
            <a:graphicFrameLocks noGrp="1"/>
          </p:cNvGraphicFramePr>
          <p:nvPr>
            <p:extLst>
              <p:ext uri="{D42A27DB-BD31-4B8C-83A1-F6EECF244321}">
                <p14:modId xmlns:p14="http://schemas.microsoft.com/office/powerpoint/2010/main" val="3966455007"/>
              </p:ext>
            </p:extLst>
          </p:nvPr>
        </p:nvGraphicFramePr>
        <p:xfrm>
          <a:off x="1878878" y="2262444"/>
          <a:ext cx="15675389" cy="7527737"/>
        </p:xfrm>
        <a:graphic>
          <a:graphicData uri="http://schemas.openxmlformats.org/drawingml/2006/table">
            <a:tbl>
              <a:tblPr/>
              <a:tblGrid>
                <a:gridCol w="3725515">
                  <a:extLst>
                    <a:ext uri="{9D8B030D-6E8A-4147-A177-3AD203B41FA5}">
                      <a16:colId xmlns:a16="http://schemas.microsoft.com/office/drawing/2014/main" val="20000"/>
                    </a:ext>
                  </a:extLst>
                </a:gridCol>
                <a:gridCol w="4920981">
                  <a:extLst>
                    <a:ext uri="{9D8B030D-6E8A-4147-A177-3AD203B41FA5}">
                      <a16:colId xmlns:a16="http://schemas.microsoft.com/office/drawing/2014/main" val="20001"/>
                    </a:ext>
                  </a:extLst>
                </a:gridCol>
                <a:gridCol w="5013819">
                  <a:extLst>
                    <a:ext uri="{9D8B030D-6E8A-4147-A177-3AD203B41FA5}">
                      <a16:colId xmlns:a16="http://schemas.microsoft.com/office/drawing/2014/main" val="20002"/>
                    </a:ext>
                  </a:extLst>
                </a:gridCol>
                <a:gridCol w="2015074">
                  <a:extLst>
                    <a:ext uri="{9D8B030D-6E8A-4147-A177-3AD203B41FA5}">
                      <a16:colId xmlns:a16="http://schemas.microsoft.com/office/drawing/2014/main" val="20003"/>
                    </a:ext>
                  </a:extLst>
                </a:gridCol>
              </a:tblGrid>
              <a:tr h="807172">
                <a:tc>
                  <a:txBody>
                    <a:bodyPr/>
                    <a:lstStyle/>
                    <a:p>
                      <a:pPr algn="ctr">
                        <a:lnSpc>
                          <a:spcPts val="2939"/>
                        </a:lnSpc>
                        <a:defRPr/>
                      </a:pPr>
                      <a:r>
                        <a:rPr lang="en-US" sz="2099" b="1">
                          <a:solidFill>
                            <a:srgbClr val="000000"/>
                          </a:solidFill>
                          <a:latin typeface="Abhaya Libre Bold"/>
                          <a:ea typeface="Abhaya Libre Bold"/>
                          <a:cs typeface="Abhaya Libre Bold"/>
                          <a:sym typeface="Abhaya Libre Bold"/>
                        </a:rPr>
                        <a:t>AUTHOR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Abhaya Libre Bold"/>
                          <a:ea typeface="Abhaya Libre Bold"/>
                          <a:cs typeface="Abhaya Libre Bold"/>
                          <a:sym typeface="Abhaya Libre Bold"/>
                        </a:rPr>
                        <a:t>METHODOLOGY</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939"/>
                        </a:lnSpc>
                        <a:defRPr/>
                      </a:pPr>
                      <a:r>
                        <a:rPr lang="en-US" sz="2099">
                          <a:solidFill>
                            <a:srgbClr val="000000"/>
                          </a:solidFill>
                          <a:latin typeface="Abhaya Libre"/>
                          <a:ea typeface="Abhaya Libre"/>
                          <a:cs typeface="Abhaya Libre"/>
                          <a:sym typeface="Abhaya Libre"/>
                        </a:rPr>
                        <a:t>LIMITATIONS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939"/>
                        </a:lnSpc>
                        <a:defRPr/>
                      </a:pPr>
                      <a:r>
                        <a:rPr lang="en-US" sz="2099" b="1">
                          <a:solidFill>
                            <a:srgbClr val="000000"/>
                          </a:solidFill>
                          <a:latin typeface="Abhaya Libre Bold"/>
                          <a:ea typeface="Abhaya Libre Bold"/>
                          <a:cs typeface="Abhaya Libre Bold"/>
                          <a:sym typeface="Abhaya Libre Bold"/>
                        </a:rPr>
                        <a:t>ACCURACY</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962558">
                <a:tc>
                  <a:txBody>
                    <a:bodyPr/>
                    <a:lstStyle/>
                    <a:p>
                      <a:pPr algn="ctr">
                        <a:lnSpc>
                          <a:spcPts val="2659"/>
                        </a:lnSpc>
                        <a:defRPr/>
                      </a:pPr>
                      <a:r>
                        <a:rPr lang="en-US" sz="1899">
                          <a:solidFill>
                            <a:srgbClr val="000000"/>
                          </a:solidFill>
                          <a:latin typeface="Canva Sans"/>
                          <a:ea typeface="Canva Sans"/>
                          <a:cs typeface="Canva Sans"/>
                          <a:sym typeface="Canva Sans"/>
                        </a:rPr>
                        <a:t>MD. NAHIDUZZAMAN, ABIDA SULTANA, et al..</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1899">
                          <a:solidFill>
                            <a:srgbClr val="000000"/>
                          </a:solidFill>
                          <a:latin typeface="Canva Sans"/>
                          <a:ea typeface="Canva Sans"/>
                          <a:cs typeface="Canva Sans"/>
                          <a:sym typeface="Canva Sans"/>
                        </a:rPr>
                        <a:t>Lightweight 2D CNN</a:t>
                      </a:r>
                      <a:r>
                        <a:rPr lang="en-US" sz="1899" b="1">
                          <a:solidFill>
                            <a:srgbClr val="000000"/>
                          </a:solidFill>
                          <a:latin typeface="Canva Sans Bold"/>
                          <a:ea typeface="Canva Sans Bold"/>
                          <a:cs typeface="Canva Sans Bold"/>
                          <a:sym typeface="Canva Sans Bold"/>
                        </a:rPr>
                        <a:t> </a:t>
                      </a:r>
                      <a:r>
                        <a:rPr lang="en-US" sz="1899">
                          <a:solidFill>
                            <a:srgbClr val="000000"/>
                          </a:solidFill>
                          <a:latin typeface="Canva Sans"/>
                          <a:ea typeface="Canva Sans"/>
                          <a:cs typeface="Canva Sans"/>
                          <a:sym typeface="Canva Sans"/>
                        </a:rPr>
                        <a:t>for tomato and cotton leaf disease detection using fewer parameters. </a:t>
                      </a:r>
                      <a:endParaRPr lang="en-US" sz="1100"/>
                    </a:p>
                    <a:p>
                      <a:pPr algn="ctr">
                        <a:lnSpc>
                          <a:spcPts val="2659"/>
                        </a:lnSpc>
                      </a:pPr>
                      <a:r>
                        <a:rPr lang="en-US" sz="1899">
                          <a:solidFill>
                            <a:srgbClr val="000000"/>
                          </a:solidFill>
                          <a:latin typeface="Canva Sans"/>
                          <a:ea typeface="Canva Sans"/>
                          <a:cs typeface="Canva Sans"/>
                          <a:sym typeface="Canva Sans"/>
                        </a:rPr>
                        <a:t>Datasets: PlantVillage (tomato)</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939"/>
                        </a:lnSpc>
                        <a:defRPr/>
                      </a:pPr>
                      <a:r>
                        <a:rPr lang="en-US" sz="2099">
                          <a:solidFill>
                            <a:srgbClr val="000000"/>
                          </a:solidFill>
                          <a:latin typeface="Canva Sans"/>
                          <a:ea typeface="Canva Sans"/>
                          <a:cs typeface="Canva Sans"/>
                          <a:sym typeface="Canva Sans"/>
                        </a:rPr>
                        <a:t> The model may struggle with new or evolving diseases and relies heavily on high-quality images, limiting real-world scalability.</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1899" dirty="0">
                          <a:solidFill>
                            <a:srgbClr val="000000"/>
                          </a:solidFill>
                          <a:latin typeface="Canva Sans"/>
                          <a:ea typeface="Canva Sans"/>
                          <a:cs typeface="Canva Sans"/>
                          <a:sym typeface="Canva Sans"/>
                        </a:rPr>
                        <a:t>97.3%</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474312">
                <a:tc>
                  <a:txBody>
                    <a:bodyPr/>
                    <a:lstStyle/>
                    <a:p>
                      <a:pPr algn="ctr">
                        <a:lnSpc>
                          <a:spcPts val="2659"/>
                        </a:lnSpc>
                        <a:defRPr/>
                      </a:pPr>
                      <a:r>
                        <a:rPr lang="en-US" sz="1899">
                          <a:solidFill>
                            <a:srgbClr val="000000"/>
                          </a:solidFill>
                          <a:latin typeface="Canva Sans"/>
                          <a:ea typeface="Canva Sans"/>
                          <a:cs typeface="Canva Sans"/>
                          <a:sym typeface="Canva Sans"/>
                        </a:rPr>
                        <a:t>NATASHA NIGAR, MUHAMMAD UMER, et al..</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1899">
                          <a:solidFill>
                            <a:srgbClr val="000000"/>
                          </a:solidFill>
                          <a:latin typeface="Canva Sans"/>
                          <a:ea typeface="Canva Sans"/>
                          <a:cs typeface="Canva Sans"/>
                          <a:sym typeface="Canva Sans"/>
                        </a:rPr>
                        <a:t>EfficientNetB0, a deep learning model with 237 layers, for classifying 38 plant diseases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1899">
                          <a:solidFill>
                            <a:srgbClr val="000000"/>
                          </a:solidFill>
                          <a:latin typeface="Canva Sans"/>
                          <a:ea typeface="Canva Sans"/>
                          <a:cs typeface="Canva Sans"/>
                          <a:sym typeface="Canva Sans"/>
                        </a:rPr>
                        <a:t>Limited dataset diversity and only four models tested; larger datasets and more models could enhance results.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1899" dirty="0">
                          <a:solidFill>
                            <a:srgbClr val="000000"/>
                          </a:solidFill>
                          <a:latin typeface="Canva Sans"/>
                          <a:ea typeface="Canva Sans"/>
                          <a:cs typeface="Canva Sans"/>
                          <a:sym typeface="Canva Sans"/>
                        </a:rPr>
                        <a:t>96.89%</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474312">
                <a:tc>
                  <a:txBody>
                    <a:bodyPr/>
                    <a:lstStyle/>
                    <a:p>
                      <a:pPr marL="0" lvl="0" indent="0" algn="ctr">
                        <a:lnSpc>
                          <a:spcPts val="2659"/>
                        </a:lnSpc>
                        <a:spcBef>
                          <a:spcPct val="0"/>
                        </a:spcBef>
                        <a:defRPr/>
                      </a:pPr>
                      <a:r>
                        <a:rPr lang="en-US" sz="1899" u="none" strike="noStrike">
                          <a:solidFill>
                            <a:srgbClr val="000000"/>
                          </a:solidFill>
                          <a:latin typeface="Canva Sans"/>
                          <a:ea typeface="Canva Sans"/>
                          <a:cs typeface="Canva Sans"/>
                          <a:sym typeface="Canva Sans"/>
                        </a:rPr>
                        <a:t>R. Singh, A. Jain, et al.</a:t>
                      </a:r>
                      <a:endParaRPr lang="en-US" sz="1100"/>
                    </a:p>
                    <a:p>
                      <a:pPr marL="0" lvl="0" indent="0" algn="ctr">
                        <a:lnSpc>
                          <a:spcPts val="2659"/>
                        </a:lnSpc>
                        <a:spcBef>
                          <a:spcPct val="0"/>
                        </a:spcBef>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marL="0" lvl="0" indent="0" algn="ctr">
                        <a:lnSpc>
                          <a:spcPts val="2659"/>
                        </a:lnSpc>
                        <a:spcBef>
                          <a:spcPct val="0"/>
                        </a:spcBef>
                        <a:defRPr/>
                      </a:pPr>
                      <a:r>
                        <a:rPr lang="en-US" sz="1899" u="none" strike="noStrike">
                          <a:solidFill>
                            <a:srgbClr val="000000"/>
                          </a:solidFill>
                          <a:latin typeface="Canva Sans"/>
                          <a:ea typeface="Canva Sans"/>
                          <a:cs typeface="Canva Sans"/>
                          <a:sym typeface="Canva Sans"/>
                        </a:rPr>
                        <a:t>CNN-based cotton leaf disease classification using feature extraction + deep learning</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marL="0" lvl="0" indent="0" algn="ctr">
                        <a:lnSpc>
                          <a:spcPts val="2659"/>
                        </a:lnSpc>
                        <a:spcBef>
                          <a:spcPct val="0"/>
                        </a:spcBef>
                        <a:defRPr/>
                      </a:pPr>
                      <a:r>
                        <a:rPr lang="en-US" sz="1899" u="none" strike="noStrike">
                          <a:solidFill>
                            <a:srgbClr val="000000"/>
                          </a:solidFill>
                          <a:latin typeface="Canva Sans"/>
                          <a:ea typeface="Canva Sans"/>
                          <a:cs typeface="Canva Sans"/>
                          <a:sym typeface="Canva Sans"/>
                        </a:rPr>
                        <a:t>Small dataset size; model may overfit and lacks robustness in field conditions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marL="0" lvl="0" indent="0" algn="ctr">
                        <a:lnSpc>
                          <a:spcPts val="2659"/>
                        </a:lnSpc>
                        <a:spcBef>
                          <a:spcPct val="0"/>
                        </a:spcBef>
                        <a:defRPr/>
                      </a:pPr>
                      <a:r>
                        <a:rPr lang="en-US" sz="1899" u="none" strike="noStrike">
                          <a:solidFill>
                            <a:srgbClr val="000000"/>
                          </a:solidFill>
                          <a:latin typeface="Canva Sans"/>
                          <a:ea typeface="Canva Sans"/>
                          <a:cs typeface="Canva Sans"/>
                          <a:sym typeface="Canva Sans"/>
                        </a:rPr>
                        <a:t>95.2%</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809383">
                <a:tc>
                  <a:txBody>
                    <a:bodyPr/>
                    <a:lstStyle/>
                    <a:p>
                      <a:pPr algn="ctr">
                        <a:lnSpc>
                          <a:spcPts val="2659"/>
                        </a:lnSpc>
                        <a:defRPr/>
                      </a:pPr>
                      <a:r>
                        <a:rPr lang="en-US" sz="1899">
                          <a:solidFill>
                            <a:srgbClr val="000000"/>
                          </a:solidFill>
                          <a:latin typeface="Canva Sans"/>
                          <a:ea typeface="Canva Sans"/>
                          <a:cs typeface="Canva Sans"/>
                          <a:sym typeface="Canva Sans"/>
                        </a:rPr>
                        <a:t>DIANA SUSAN JOSEPH,</a:t>
                      </a:r>
                      <a:endParaRPr lang="en-US" sz="1100"/>
                    </a:p>
                    <a:p>
                      <a:pPr algn="ctr">
                        <a:lnSpc>
                          <a:spcPts val="2659"/>
                        </a:lnSpc>
                      </a:pPr>
                      <a:r>
                        <a:rPr lang="en-US" sz="1899">
                          <a:solidFill>
                            <a:srgbClr val="000000"/>
                          </a:solidFill>
                          <a:latin typeface="Canva Sans"/>
                          <a:ea typeface="Canva Sans"/>
                          <a:cs typeface="Canva Sans"/>
                          <a:sym typeface="Canva Sans"/>
                        </a:rPr>
                        <a:t>KAUSTUBH CHAKRADEO,   et al..</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1899" dirty="0">
                          <a:solidFill>
                            <a:srgbClr val="000000"/>
                          </a:solidFill>
                          <a:latin typeface="Canva Sans"/>
                          <a:ea typeface="Canva Sans"/>
                          <a:cs typeface="Canva Sans"/>
                          <a:sym typeface="Canva Sans"/>
                        </a:rPr>
                        <a:t>A CNN model, MRW-CNN is proposed for detecting maize, rice, and wheat leaf diseases.</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1899" dirty="0">
                          <a:solidFill>
                            <a:srgbClr val="000000"/>
                          </a:solidFill>
                          <a:latin typeface="Canva Sans"/>
                          <a:ea typeface="Canva Sans"/>
                          <a:cs typeface="Canva Sans"/>
                          <a:sym typeface="Canva Sans"/>
                        </a:rPr>
                        <a:t>It does not explore the use of annotated images for advanced object detection models, which could enhance disease detection capabilities.</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59"/>
                        </a:lnSpc>
                        <a:defRPr/>
                      </a:pPr>
                      <a:r>
                        <a:rPr lang="en-US" sz="1899" dirty="0">
                          <a:solidFill>
                            <a:srgbClr val="000000"/>
                          </a:solidFill>
                          <a:latin typeface="Canva Sans"/>
                          <a:ea typeface="Canva Sans"/>
                          <a:cs typeface="Canva Sans"/>
                          <a:sym typeface="Canva Sans"/>
                        </a:rPr>
                        <a:t>InceptionV3 on wheat- 94.68%</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1028700" y="866775"/>
            <a:ext cx="16230600" cy="1450976"/>
          </a:xfrm>
          <a:prstGeom prst="rect">
            <a:avLst/>
          </a:prstGeom>
        </p:spPr>
        <p:txBody>
          <a:bodyPr lIns="0" tIns="0" rIns="0" bIns="0" rtlCol="0" anchor="t">
            <a:spAutoFit/>
          </a:bodyPr>
          <a:lstStyle/>
          <a:p>
            <a:pPr algn="ctr">
              <a:lnSpc>
                <a:spcPts val="11899"/>
              </a:lnSpc>
            </a:pPr>
            <a:r>
              <a:rPr lang="en-US" sz="8499">
                <a:solidFill>
                  <a:srgbClr val="000000"/>
                </a:solidFill>
                <a:latin typeface="Alatsi"/>
                <a:ea typeface="Alatsi"/>
                <a:cs typeface="Alatsi"/>
                <a:sym typeface="Alatsi"/>
              </a:rPr>
              <a:t>RESEARCH GAP</a:t>
            </a:r>
          </a:p>
        </p:txBody>
      </p:sp>
      <p:sp>
        <p:nvSpPr>
          <p:cNvPr id="3" name="TextBox 3"/>
          <p:cNvSpPr txBox="1"/>
          <p:nvPr/>
        </p:nvSpPr>
        <p:spPr>
          <a:xfrm>
            <a:off x="5702946" y="8800282"/>
            <a:ext cx="6882108" cy="464820"/>
          </a:xfrm>
          <a:prstGeom prst="rect">
            <a:avLst/>
          </a:prstGeom>
        </p:spPr>
        <p:txBody>
          <a:bodyPr lIns="0" tIns="0" rIns="0" bIns="0" rtlCol="0" anchor="t">
            <a:spAutoFit/>
          </a:bodyPr>
          <a:lstStyle/>
          <a:p>
            <a:pPr algn="ctr">
              <a:lnSpc>
                <a:spcPts val="3779"/>
              </a:lnSpc>
            </a:pPr>
            <a:r>
              <a:rPr lang="en-US" sz="2700">
                <a:solidFill>
                  <a:srgbClr val="000000"/>
                </a:solidFill>
                <a:latin typeface="Alatsi"/>
                <a:ea typeface="Alatsi"/>
                <a:cs typeface="Alatsi"/>
                <a:sym typeface="Alatsi"/>
              </a:rPr>
              <a:t>IIIT Pune | 2026</a:t>
            </a:r>
          </a:p>
        </p:txBody>
      </p:sp>
      <p:grpSp>
        <p:nvGrpSpPr>
          <p:cNvPr id="4" name="Group 4"/>
          <p:cNvGrpSpPr/>
          <p:nvPr/>
        </p:nvGrpSpPr>
        <p:grpSpPr>
          <a:xfrm>
            <a:off x="696763" y="3102810"/>
            <a:ext cx="7362681" cy="4421131"/>
            <a:chOff x="0" y="0"/>
            <a:chExt cx="1939142" cy="1164413"/>
          </a:xfrm>
        </p:grpSpPr>
        <p:sp>
          <p:nvSpPr>
            <p:cNvPr id="5" name="Freeform 5"/>
            <p:cNvSpPr/>
            <p:nvPr/>
          </p:nvSpPr>
          <p:spPr>
            <a:xfrm>
              <a:off x="0" y="0"/>
              <a:ext cx="1939142" cy="1164413"/>
            </a:xfrm>
            <a:custGeom>
              <a:avLst/>
              <a:gdLst/>
              <a:ahLst/>
              <a:cxnLst/>
              <a:rect l="l" t="t" r="r" b="b"/>
              <a:pathLst>
                <a:path w="1939142" h="1164413">
                  <a:moveTo>
                    <a:pt x="53627" y="0"/>
                  </a:moveTo>
                  <a:lnTo>
                    <a:pt x="1885515" y="0"/>
                  </a:lnTo>
                  <a:cubicBezTo>
                    <a:pt x="1915133" y="0"/>
                    <a:pt x="1939142" y="24010"/>
                    <a:pt x="1939142" y="53627"/>
                  </a:cubicBezTo>
                  <a:lnTo>
                    <a:pt x="1939142" y="1110786"/>
                  </a:lnTo>
                  <a:cubicBezTo>
                    <a:pt x="1939142" y="1140403"/>
                    <a:pt x="1915133" y="1164413"/>
                    <a:pt x="1885515" y="1164413"/>
                  </a:cubicBezTo>
                  <a:lnTo>
                    <a:pt x="53627" y="1164413"/>
                  </a:lnTo>
                  <a:cubicBezTo>
                    <a:pt x="39404" y="1164413"/>
                    <a:pt x="25764" y="1158763"/>
                    <a:pt x="15707" y="1148706"/>
                  </a:cubicBezTo>
                  <a:cubicBezTo>
                    <a:pt x="5650" y="1138649"/>
                    <a:pt x="0" y="1125009"/>
                    <a:pt x="0" y="1110786"/>
                  </a:cubicBezTo>
                  <a:lnTo>
                    <a:pt x="0" y="53627"/>
                  </a:lnTo>
                  <a:cubicBezTo>
                    <a:pt x="0" y="39404"/>
                    <a:pt x="5650" y="25764"/>
                    <a:pt x="15707" y="15707"/>
                  </a:cubicBezTo>
                  <a:cubicBezTo>
                    <a:pt x="25764" y="5650"/>
                    <a:pt x="39404" y="0"/>
                    <a:pt x="53627" y="0"/>
                  </a:cubicBezTo>
                  <a:close/>
                </a:path>
              </a:pathLst>
            </a:custGeom>
            <a:solidFill>
              <a:srgbClr val="E9C7C6"/>
            </a:solidFill>
          </p:spPr>
        </p:sp>
        <p:sp>
          <p:nvSpPr>
            <p:cNvPr id="6" name="TextBox 6"/>
            <p:cNvSpPr txBox="1"/>
            <p:nvPr/>
          </p:nvSpPr>
          <p:spPr>
            <a:xfrm>
              <a:off x="0" y="-38100"/>
              <a:ext cx="1939142" cy="1202513"/>
            </a:xfrm>
            <a:prstGeom prst="rect">
              <a:avLst/>
            </a:prstGeom>
          </p:spPr>
          <p:txBody>
            <a:bodyPr lIns="50800" tIns="50800" rIns="50800" bIns="50800" rtlCol="0" anchor="ctr"/>
            <a:lstStyle/>
            <a:p>
              <a:pPr algn="ctr">
                <a:lnSpc>
                  <a:spcPts val="2659"/>
                </a:lnSpc>
              </a:pPr>
              <a:r>
                <a:rPr lang="en-US" sz="1899">
                  <a:solidFill>
                    <a:srgbClr val="000000"/>
                  </a:solidFill>
                  <a:latin typeface="Alatsi"/>
                  <a:ea typeface="Alatsi"/>
                  <a:cs typeface="Alatsi"/>
                  <a:sym typeface="Alatsi"/>
                </a:rPr>
                <a:t>         Many existing approaches, including lightweight CNN-based models, are designed for specific crops such as tomato and cotton. This restricts their applicability across diverse agricultural scenarios. There is a need for models that can generalize across multiple crop types and disease classes.</a:t>
              </a:r>
            </a:p>
            <a:p>
              <a:pPr algn="ctr">
                <a:lnSpc>
                  <a:spcPts val="2659"/>
                </a:lnSpc>
              </a:pPr>
              <a:endParaRPr lang="en-US" sz="1899">
                <a:solidFill>
                  <a:srgbClr val="000000"/>
                </a:solidFill>
                <a:latin typeface="Alatsi"/>
                <a:ea typeface="Alatsi"/>
                <a:cs typeface="Alatsi"/>
                <a:sym typeface="Alatsi"/>
              </a:endParaRPr>
            </a:p>
          </p:txBody>
        </p:sp>
      </p:grpSp>
      <p:sp>
        <p:nvSpPr>
          <p:cNvPr id="7" name="TextBox 7"/>
          <p:cNvSpPr txBox="1"/>
          <p:nvPr/>
        </p:nvSpPr>
        <p:spPr>
          <a:xfrm>
            <a:off x="1562665" y="3312830"/>
            <a:ext cx="5992549" cy="679450"/>
          </a:xfrm>
          <a:prstGeom prst="rect">
            <a:avLst/>
          </a:prstGeom>
        </p:spPr>
        <p:txBody>
          <a:bodyPr lIns="0" tIns="0" rIns="0" bIns="0" rtlCol="0" anchor="t">
            <a:spAutoFit/>
          </a:bodyPr>
          <a:lstStyle/>
          <a:p>
            <a:pPr algn="l">
              <a:lnSpc>
                <a:spcPts val="5599"/>
              </a:lnSpc>
            </a:pPr>
            <a:r>
              <a:rPr lang="en-US" sz="3999">
                <a:solidFill>
                  <a:srgbClr val="000000"/>
                </a:solidFill>
                <a:latin typeface="Alatsi"/>
                <a:ea typeface="Alatsi"/>
                <a:cs typeface="Alatsi"/>
                <a:sym typeface="Alatsi"/>
              </a:rPr>
              <a:t>Lack of Diverse Crop Data</a:t>
            </a:r>
          </a:p>
        </p:txBody>
      </p:sp>
      <p:sp>
        <p:nvSpPr>
          <p:cNvPr id="8" name="Freeform 8"/>
          <p:cNvSpPr/>
          <p:nvPr/>
        </p:nvSpPr>
        <p:spPr>
          <a:xfrm>
            <a:off x="13417488" y="6142174"/>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9" name="Group 9"/>
          <p:cNvGrpSpPr/>
          <p:nvPr/>
        </p:nvGrpSpPr>
        <p:grpSpPr>
          <a:xfrm>
            <a:off x="8708415" y="3102810"/>
            <a:ext cx="7753278" cy="4421131"/>
            <a:chOff x="0" y="0"/>
            <a:chExt cx="2042016" cy="1164413"/>
          </a:xfrm>
        </p:grpSpPr>
        <p:sp>
          <p:nvSpPr>
            <p:cNvPr id="10" name="Freeform 10"/>
            <p:cNvSpPr/>
            <p:nvPr/>
          </p:nvSpPr>
          <p:spPr>
            <a:xfrm>
              <a:off x="0" y="0"/>
              <a:ext cx="2042015" cy="1164413"/>
            </a:xfrm>
            <a:custGeom>
              <a:avLst/>
              <a:gdLst/>
              <a:ahLst/>
              <a:cxnLst/>
              <a:rect l="l" t="t" r="r" b="b"/>
              <a:pathLst>
                <a:path w="2042015" h="1164413">
                  <a:moveTo>
                    <a:pt x="50925" y="0"/>
                  </a:moveTo>
                  <a:lnTo>
                    <a:pt x="1991090" y="0"/>
                  </a:lnTo>
                  <a:cubicBezTo>
                    <a:pt x="2004596" y="0"/>
                    <a:pt x="2017550" y="5365"/>
                    <a:pt x="2027100" y="14916"/>
                  </a:cubicBezTo>
                  <a:cubicBezTo>
                    <a:pt x="2036650" y="24466"/>
                    <a:pt x="2042015" y="37419"/>
                    <a:pt x="2042015" y="50925"/>
                  </a:cubicBezTo>
                  <a:lnTo>
                    <a:pt x="2042015" y="1113488"/>
                  </a:lnTo>
                  <a:cubicBezTo>
                    <a:pt x="2042015" y="1141613"/>
                    <a:pt x="2019216" y="1164413"/>
                    <a:pt x="1991090" y="1164413"/>
                  </a:cubicBezTo>
                  <a:lnTo>
                    <a:pt x="50925" y="1164413"/>
                  </a:lnTo>
                  <a:cubicBezTo>
                    <a:pt x="22800" y="1164413"/>
                    <a:pt x="0" y="1141613"/>
                    <a:pt x="0" y="1113488"/>
                  </a:cubicBezTo>
                  <a:lnTo>
                    <a:pt x="0" y="50925"/>
                  </a:lnTo>
                  <a:cubicBezTo>
                    <a:pt x="0" y="22800"/>
                    <a:pt x="22800" y="0"/>
                    <a:pt x="50925" y="0"/>
                  </a:cubicBezTo>
                  <a:close/>
                </a:path>
              </a:pathLst>
            </a:custGeom>
            <a:solidFill>
              <a:srgbClr val="E9C7C6"/>
            </a:solidFill>
          </p:spPr>
        </p:sp>
        <p:sp>
          <p:nvSpPr>
            <p:cNvPr id="11" name="TextBox 11"/>
            <p:cNvSpPr txBox="1"/>
            <p:nvPr/>
          </p:nvSpPr>
          <p:spPr>
            <a:xfrm>
              <a:off x="0" y="-38100"/>
              <a:ext cx="2042016" cy="1202513"/>
            </a:xfrm>
            <a:prstGeom prst="rect">
              <a:avLst/>
            </a:prstGeom>
          </p:spPr>
          <p:txBody>
            <a:bodyPr lIns="50800" tIns="50800" rIns="50800" bIns="50800" rtlCol="0" anchor="ctr"/>
            <a:lstStyle/>
            <a:p>
              <a:pPr algn="ctr">
                <a:lnSpc>
                  <a:spcPts val="2659"/>
                </a:lnSpc>
              </a:pPr>
              <a:r>
                <a:rPr lang="en-US" sz="1899">
                  <a:solidFill>
                    <a:srgbClr val="000000"/>
                  </a:solidFill>
                  <a:latin typeface="Alatsi"/>
                  <a:ea typeface="Alatsi"/>
                  <a:cs typeface="Alatsi"/>
                  <a:sym typeface="Alatsi"/>
                </a:rPr>
                <a:t>Existing models typically employ either additive (ResNet) or concatenation-based (DenseNet/Inception) feature fusion independently. There is limited exploration of hybrid fusion strategies that can simultaneously preserve information and maintain computational efficiency.</a:t>
              </a:r>
            </a:p>
            <a:p>
              <a:pPr algn="ctr">
                <a:lnSpc>
                  <a:spcPts val="2659"/>
                </a:lnSpc>
              </a:pPr>
              <a:endParaRPr lang="en-US" sz="1899">
                <a:solidFill>
                  <a:srgbClr val="000000"/>
                </a:solidFill>
                <a:latin typeface="Alatsi"/>
                <a:ea typeface="Alatsi"/>
                <a:cs typeface="Alatsi"/>
                <a:sym typeface="Alatsi"/>
              </a:endParaRPr>
            </a:p>
          </p:txBody>
        </p:sp>
      </p:grpSp>
      <p:sp>
        <p:nvSpPr>
          <p:cNvPr id="12" name="TextBox 12"/>
          <p:cNvSpPr txBox="1"/>
          <p:nvPr/>
        </p:nvSpPr>
        <p:spPr>
          <a:xfrm>
            <a:off x="9507255" y="3355975"/>
            <a:ext cx="7133206" cy="679450"/>
          </a:xfrm>
          <a:prstGeom prst="rect">
            <a:avLst/>
          </a:prstGeom>
        </p:spPr>
        <p:txBody>
          <a:bodyPr lIns="0" tIns="0" rIns="0" bIns="0" rtlCol="0" anchor="t">
            <a:spAutoFit/>
          </a:bodyPr>
          <a:lstStyle/>
          <a:p>
            <a:pPr algn="l">
              <a:lnSpc>
                <a:spcPts val="5599"/>
              </a:lnSpc>
            </a:pPr>
            <a:r>
              <a:rPr lang="en-US" sz="3999">
                <a:solidFill>
                  <a:srgbClr val="000000"/>
                </a:solidFill>
                <a:latin typeface="Alatsi"/>
                <a:ea typeface="Alatsi"/>
                <a:cs typeface="Alatsi"/>
                <a:sym typeface="Alatsi"/>
              </a:rPr>
              <a:t>Existing Architectures</a:t>
            </a:r>
          </a:p>
        </p:txBody>
      </p:sp>
      <p:grpSp>
        <p:nvGrpSpPr>
          <p:cNvPr id="13" name="Group 13"/>
          <p:cNvGrpSpPr/>
          <p:nvPr/>
        </p:nvGrpSpPr>
        <p:grpSpPr>
          <a:xfrm>
            <a:off x="924606" y="3432175"/>
            <a:ext cx="516960" cy="516960"/>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15" name="TextBox 15"/>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8885520" y="3478267"/>
            <a:ext cx="516960" cy="516960"/>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18" name="TextBox 18"/>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9" name="AutoShape 19"/>
          <p:cNvSpPr/>
          <p:nvPr/>
        </p:nvSpPr>
        <p:spPr>
          <a:xfrm>
            <a:off x="-260599" y="9061267"/>
            <a:ext cx="7105264" cy="19050"/>
          </a:xfrm>
          <a:prstGeom prst="line">
            <a:avLst/>
          </a:prstGeom>
          <a:ln w="114300" cap="flat">
            <a:solidFill>
              <a:srgbClr val="9FC3D0"/>
            </a:solidFill>
            <a:prstDash val="solid"/>
            <a:headEnd type="none" w="sm" len="sm"/>
            <a:tailEnd type="none" w="sm" len="sm"/>
          </a:ln>
        </p:spPr>
      </p:sp>
      <p:sp>
        <p:nvSpPr>
          <p:cNvPr id="20" name="AutoShape 20"/>
          <p:cNvSpPr/>
          <p:nvPr/>
        </p:nvSpPr>
        <p:spPr>
          <a:xfrm>
            <a:off x="11430169" y="9061267"/>
            <a:ext cx="7105264" cy="19050"/>
          </a:xfrm>
          <a:prstGeom prst="line">
            <a:avLst/>
          </a:prstGeom>
          <a:ln w="114300" cap="flat">
            <a:solidFill>
              <a:srgbClr val="9FC3D0"/>
            </a:solidFill>
            <a:prstDash val="solid"/>
            <a:headEnd type="none" w="sm" len="sm"/>
            <a:tailEnd type="none" w="sm" len="sm"/>
          </a:ln>
        </p:spPr>
      </p:sp>
      <p:grpSp>
        <p:nvGrpSpPr>
          <p:cNvPr id="21" name="Group 21"/>
          <p:cNvGrpSpPr/>
          <p:nvPr/>
        </p:nvGrpSpPr>
        <p:grpSpPr>
          <a:xfrm>
            <a:off x="15859155" y="0"/>
            <a:ext cx="1562612" cy="1673225"/>
            <a:chOff x="0" y="0"/>
            <a:chExt cx="2083482" cy="2230967"/>
          </a:xfrm>
        </p:grpSpPr>
        <p:grpSp>
          <p:nvGrpSpPr>
            <p:cNvPr id="22" name="Group 22"/>
            <p:cNvGrpSpPr/>
            <p:nvPr/>
          </p:nvGrpSpPr>
          <p:grpSpPr>
            <a:xfrm>
              <a:off x="75599" y="0"/>
              <a:ext cx="1932284" cy="2230967"/>
              <a:chOff x="0" y="0"/>
              <a:chExt cx="703982" cy="812800"/>
            </a:xfrm>
          </p:grpSpPr>
          <p:sp>
            <p:nvSpPr>
              <p:cNvPr id="23" name="Freeform 23"/>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id="24" name="TextBox 24"/>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25" name="TextBox 25"/>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b="1">
                  <a:solidFill>
                    <a:srgbClr val="000000"/>
                  </a:solidFill>
                  <a:latin typeface="Open Sans Bold"/>
                  <a:ea typeface="Open Sans Bold"/>
                  <a:cs typeface="Open Sans Bold"/>
                  <a:sym typeface="Open Sans Bold"/>
                </a:rPr>
                <a:t>4</a:t>
              </a:r>
            </a:p>
          </p:txBody>
        </p:sp>
      </p:grpSp>
      <p:sp>
        <p:nvSpPr>
          <p:cNvPr id="26" name="Freeform 26"/>
          <p:cNvSpPr/>
          <p:nvPr/>
        </p:nvSpPr>
        <p:spPr>
          <a:xfrm>
            <a:off x="55012" y="89674"/>
            <a:ext cx="1947377" cy="1493878"/>
          </a:xfrm>
          <a:custGeom>
            <a:avLst/>
            <a:gdLst/>
            <a:ahLst/>
            <a:cxnLst/>
            <a:rect l="l" t="t" r="r" b="b"/>
            <a:pathLst>
              <a:path w="1947377" h="1493878">
                <a:moveTo>
                  <a:pt x="0" y="0"/>
                </a:moveTo>
                <a:lnTo>
                  <a:pt x="1947376" y="0"/>
                </a:lnTo>
                <a:lnTo>
                  <a:pt x="1947376" y="1493878"/>
                </a:lnTo>
                <a:lnTo>
                  <a:pt x="0" y="1493878"/>
                </a:lnTo>
                <a:lnTo>
                  <a:pt x="0" y="0"/>
                </a:lnTo>
                <a:close/>
              </a:path>
            </a:pathLst>
          </a:custGeom>
          <a:blipFill>
            <a:blip r:embed="rId3"/>
            <a:stretch>
              <a:fillRect l="-15477" t="-31808" r="-11400" b="-23857"/>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1028700" y="30162"/>
            <a:ext cx="15815306" cy="1450976"/>
          </a:xfrm>
          <a:prstGeom prst="rect">
            <a:avLst/>
          </a:prstGeom>
        </p:spPr>
        <p:txBody>
          <a:bodyPr lIns="0" tIns="0" rIns="0" bIns="0" rtlCol="0" anchor="t">
            <a:spAutoFit/>
          </a:bodyPr>
          <a:lstStyle/>
          <a:p>
            <a:pPr algn="ctr">
              <a:lnSpc>
                <a:spcPts val="11899"/>
              </a:lnSpc>
            </a:pPr>
            <a:r>
              <a:rPr lang="en-US" sz="8499">
                <a:solidFill>
                  <a:srgbClr val="000000"/>
                </a:solidFill>
                <a:latin typeface="Alatsi"/>
                <a:ea typeface="Alatsi"/>
                <a:cs typeface="Alatsi"/>
                <a:sym typeface="Alatsi"/>
              </a:rPr>
              <a:t>DATASET &amp; TECH STACK</a:t>
            </a:r>
          </a:p>
        </p:txBody>
      </p:sp>
      <p:sp>
        <p:nvSpPr>
          <p:cNvPr id="3" name="TextBox 3"/>
          <p:cNvSpPr txBox="1"/>
          <p:nvPr/>
        </p:nvSpPr>
        <p:spPr>
          <a:xfrm>
            <a:off x="5709529" y="9200332"/>
            <a:ext cx="6882108" cy="464820"/>
          </a:xfrm>
          <a:prstGeom prst="rect">
            <a:avLst/>
          </a:prstGeom>
        </p:spPr>
        <p:txBody>
          <a:bodyPr lIns="0" tIns="0" rIns="0" bIns="0" rtlCol="0" anchor="t">
            <a:spAutoFit/>
          </a:bodyPr>
          <a:lstStyle/>
          <a:p>
            <a:pPr algn="ctr">
              <a:lnSpc>
                <a:spcPts val="3779"/>
              </a:lnSpc>
            </a:pPr>
            <a:r>
              <a:rPr lang="en-US" sz="2700">
                <a:solidFill>
                  <a:srgbClr val="000000"/>
                </a:solidFill>
                <a:latin typeface="Alatsi"/>
                <a:ea typeface="Alatsi"/>
                <a:cs typeface="Alatsi"/>
                <a:sym typeface="Alatsi"/>
              </a:rPr>
              <a:t>IIIT Pune | 2026</a:t>
            </a:r>
          </a:p>
        </p:txBody>
      </p:sp>
      <p:sp>
        <p:nvSpPr>
          <p:cNvPr id="4" name="AutoShape 4"/>
          <p:cNvSpPr/>
          <p:nvPr/>
        </p:nvSpPr>
        <p:spPr>
          <a:xfrm>
            <a:off x="-254016" y="9461317"/>
            <a:ext cx="7105264" cy="19050"/>
          </a:xfrm>
          <a:prstGeom prst="line">
            <a:avLst/>
          </a:prstGeom>
          <a:ln w="114300" cap="flat">
            <a:solidFill>
              <a:srgbClr val="9FC3D0"/>
            </a:solidFill>
            <a:prstDash val="solid"/>
            <a:headEnd type="none" w="sm" len="sm"/>
            <a:tailEnd type="none" w="sm" len="sm"/>
          </a:ln>
        </p:spPr>
      </p:sp>
      <p:sp>
        <p:nvSpPr>
          <p:cNvPr id="5" name="AutoShape 5"/>
          <p:cNvSpPr/>
          <p:nvPr/>
        </p:nvSpPr>
        <p:spPr>
          <a:xfrm>
            <a:off x="11436752" y="9461317"/>
            <a:ext cx="7105264" cy="19050"/>
          </a:xfrm>
          <a:prstGeom prst="line">
            <a:avLst/>
          </a:prstGeom>
          <a:ln w="114300" cap="flat">
            <a:solidFill>
              <a:srgbClr val="9FC3D0"/>
            </a:solidFill>
            <a:prstDash val="solid"/>
            <a:headEnd type="none" w="sm" len="sm"/>
            <a:tailEnd type="none" w="sm" len="sm"/>
          </a:ln>
        </p:spPr>
      </p:sp>
      <p:grpSp>
        <p:nvGrpSpPr>
          <p:cNvPr id="6" name="Group 6"/>
          <p:cNvGrpSpPr/>
          <p:nvPr/>
        </p:nvGrpSpPr>
        <p:grpSpPr>
          <a:xfrm>
            <a:off x="15859155" y="0"/>
            <a:ext cx="1562612" cy="1673225"/>
            <a:chOff x="0" y="0"/>
            <a:chExt cx="2083482" cy="2230967"/>
          </a:xfrm>
        </p:grpSpPr>
        <p:grpSp>
          <p:nvGrpSpPr>
            <p:cNvPr id="7" name="Group 7"/>
            <p:cNvGrpSpPr/>
            <p:nvPr/>
          </p:nvGrpSpPr>
          <p:grpSpPr>
            <a:xfrm>
              <a:off x="75599" y="0"/>
              <a:ext cx="1932284" cy="2230967"/>
              <a:chOff x="0" y="0"/>
              <a:chExt cx="703982" cy="812800"/>
            </a:xfrm>
          </p:grpSpPr>
          <p:sp>
            <p:nvSpPr>
              <p:cNvPr id="8" name="Freeform 8"/>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id="9" name="TextBox 9"/>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b="1">
                  <a:solidFill>
                    <a:srgbClr val="000000"/>
                  </a:solidFill>
                  <a:latin typeface="Open Sans Bold"/>
                  <a:ea typeface="Open Sans Bold"/>
                  <a:cs typeface="Open Sans Bold"/>
                  <a:sym typeface="Open Sans Bold"/>
                </a:rPr>
                <a:t>5</a:t>
              </a:r>
            </a:p>
          </p:txBody>
        </p:sp>
      </p:grpSp>
      <p:sp>
        <p:nvSpPr>
          <p:cNvPr id="11" name="Freeform 11"/>
          <p:cNvSpPr/>
          <p:nvPr/>
        </p:nvSpPr>
        <p:spPr>
          <a:xfrm>
            <a:off x="14982801" y="5143500"/>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2" name="Freeform 12"/>
          <p:cNvSpPr/>
          <p:nvPr/>
        </p:nvSpPr>
        <p:spPr>
          <a:xfrm>
            <a:off x="10240608" y="2009283"/>
            <a:ext cx="7375861" cy="5276772"/>
          </a:xfrm>
          <a:custGeom>
            <a:avLst/>
            <a:gdLst/>
            <a:ahLst/>
            <a:cxnLst/>
            <a:rect l="l" t="t" r="r" b="b"/>
            <a:pathLst>
              <a:path w="7375861" h="5276772">
                <a:moveTo>
                  <a:pt x="0" y="0"/>
                </a:moveTo>
                <a:lnTo>
                  <a:pt x="7375862" y="0"/>
                </a:lnTo>
                <a:lnTo>
                  <a:pt x="7375862" y="5276773"/>
                </a:lnTo>
                <a:lnTo>
                  <a:pt x="0" y="5276773"/>
                </a:lnTo>
                <a:lnTo>
                  <a:pt x="0" y="0"/>
                </a:lnTo>
                <a:close/>
              </a:path>
            </a:pathLst>
          </a:custGeom>
          <a:blipFill>
            <a:blip r:embed="rId3"/>
            <a:stretch>
              <a:fillRect l="-1468" t="-2395" r="-7099" b="-2666"/>
            </a:stretch>
          </a:blipFill>
        </p:spPr>
      </p:sp>
      <p:sp>
        <p:nvSpPr>
          <p:cNvPr id="13" name="Freeform 13"/>
          <p:cNvSpPr/>
          <p:nvPr/>
        </p:nvSpPr>
        <p:spPr>
          <a:xfrm>
            <a:off x="373910" y="7219004"/>
            <a:ext cx="4674246" cy="1911796"/>
          </a:xfrm>
          <a:custGeom>
            <a:avLst/>
            <a:gdLst/>
            <a:ahLst/>
            <a:cxnLst/>
            <a:rect l="l" t="t" r="r" b="b"/>
            <a:pathLst>
              <a:path w="4674246" h="1911796">
                <a:moveTo>
                  <a:pt x="0" y="0"/>
                </a:moveTo>
                <a:lnTo>
                  <a:pt x="4674246" y="0"/>
                </a:lnTo>
                <a:lnTo>
                  <a:pt x="4674246" y="1911796"/>
                </a:lnTo>
                <a:lnTo>
                  <a:pt x="0" y="1911796"/>
                </a:lnTo>
                <a:lnTo>
                  <a:pt x="0" y="0"/>
                </a:lnTo>
                <a:close/>
              </a:path>
            </a:pathLst>
          </a:custGeom>
          <a:blipFill>
            <a:blip r:embed="rId4"/>
            <a:stretch>
              <a:fillRect t="-8536" b="-13711"/>
            </a:stretch>
          </a:blipFill>
        </p:spPr>
      </p:sp>
      <p:sp>
        <p:nvSpPr>
          <p:cNvPr id="14" name="Freeform 14"/>
          <p:cNvSpPr/>
          <p:nvPr/>
        </p:nvSpPr>
        <p:spPr>
          <a:xfrm>
            <a:off x="5536771" y="7219004"/>
            <a:ext cx="1911796" cy="1911796"/>
          </a:xfrm>
          <a:custGeom>
            <a:avLst/>
            <a:gdLst/>
            <a:ahLst/>
            <a:cxnLst/>
            <a:rect l="l" t="t" r="r" b="b"/>
            <a:pathLst>
              <a:path w="1911796" h="1911796">
                <a:moveTo>
                  <a:pt x="0" y="0"/>
                </a:moveTo>
                <a:lnTo>
                  <a:pt x="1911796" y="0"/>
                </a:lnTo>
                <a:lnTo>
                  <a:pt x="1911796" y="1911796"/>
                </a:lnTo>
                <a:lnTo>
                  <a:pt x="0" y="1911796"/>
                </a:lnTo>
                <a:lnTo>
                  <a:pt x="0" y="0"/>
                </a:lnTo>
                <a:close/>
              </a:path>
            </a:pathLst>
          </a:custGeom>
          <a:blipFill>
            <a:blip r:embed="rId5"/>
            <a:stretch>
              <a:fillRect/>
            </a:stretch>
          </a:blipFill>
        </p:spPr>
      </p:sp>
      <p:sp>
        <p:nvSpPr>
          <p:cNvPr id="15" name="TextBox 15"/>
          <p:cNvSpPr txBox="1"/>
          <p:nvPr/>
        </p:nvSpPr>
        <p:spPr>
          <a:xfrm>
            <a:off x="373910" y="1842135"/>
            <a:ext cx="9866699" cy="4691081"/>
          </a:xfrm>
          <a:prstGeom prst="rect">
            <a:avLst/>
          </a:prstGeom>
        </p:spPr>
        <p:txBody>
          <a:bodyPr lIns="0" tIns="0" rIns="0" bIns="0" rtlCol="0" anchor="t">
            <a:spAutoFit/>
          </a:bodyPr>
          <a:lstStyle/>
          <a:p>
            <a:pPr algn="l">
              <a:lnSpc>
                <a:spcPts val="2891"/>
              </a:lnSpc>
              <a:spcBef>
                <a:spcPct val="0"/>
              </a:spcBef>
            </a:pPr>
            <a:r>
              <a:rPr lang="en-US" sz="2065">
                <a:solidFill>
                  <a:srgbClr val="000000"/>
                </a:solidFill>
                <a:latin typeface="Alatsi"/>
                <a:ea typeface="Alatsi"/>
                <a:cs typeface="Alatsi"/>
                <a:sym typeface="Alatsi"/>
              </a:rPr>
              <a:t>To develop an effective crop disease detection system, we utilized several key agricultural datasets:</a:t>
            </a:r>
          </a:p>
          <a:p>
            <a:pPr marL="445986" lvl="1" indent="-222993" algn="l">
              <a:lnSpc>
                <a:spcPts val="2891"/>
              </a:lnSpc>
              <a:buFont typeface="Arial"/>
              <a:buChar char="•"/>
            </a:pPr>
            <a:r>
              <a:rPr lang="en-US" sz="2065">
                <a:solidFill>
                  <a:srgbClr val="000000"/>
                </a:solidFill>
                <a:latin typeface="Alatsi"/>
                <a:ea typeface="Alatsi"/>
                <a:cs typeface="Alatsi"/>
                <a:sym typeface="Alatsi"/>
              </a:rPr>
              <a:t>PlantVillage Dataset:</a:t>
            </a:r>
          </a:p>
          <a:p>
            <a:pPr algn="l">
              <a:lnSpc>
                <a:spcPts val="2891"/>
              </a:lnSpc>
              <a:spcBef>
                <a:spcPct val="0"/>
              </a:spcBef>
            </a:pPr>
            <a:r>
              <a:rPr lang="en-US" sz="2065">
                <a:solidFill>
                  <a:srgbClr val="000000"/>
                </a:solidFill>
                <a:latin typeface="Times New Roman MT"/>
                <a:ea typeface="Times New Roman MT"/>
                <a:cs typeface="Times New Roman MT"/>
                <a:sym typeface="Times New Roman MT"/>
              </a:rPr>
              <a:t>        Contains 20,639 images of Bell Pepper, Potato, and Tomato plants, both healthy             and diseased. It includes common diseases like late blight and bacterial spot, offering diverse data for accurate disease detection.</a:t>
            </a:r>
          </a:p>
          <a:p>
            <a:pPr marL="445986" lvl="1" indent="-222993" algn="l">
              <a:lnSpc>
                <a:spcPts val="2891"/>
              </a:lnSpc>
              <a:buFont typeface="Arial"/>
              <a:buChar char="•"/>
            </a:pPr>
            <a:r>
              <a:rPr lang="en-US" sz="2065">
                <a:solidFill>
                  <a:srgbClr val="000000"/>
                </a:solidFill>
                <a:latin typeface="Alatsi"/>
                <a:ea typeface="Alatsi"/>
                <a:cs typeface="Alatsi"/>
                <a:sym typeface="Alatsi"/>
              </a:rPr>
              <a:t>CottonPlant Disease Dataset:</a:t>
            </a:r>
          </a:p>
          <a:p>
            <a:pPr algn="l">
              <a:lnSpc>
                <a:spcPts val="2891"/>
              </a:lnSpc>
              <a:spcBef>
                <a:spcPct val="0"/>
              </a:spcBef>
            </a:pPr>
            <a:r>
              <a:rPr lang="en-US" sz="2065" b="1">
                <a:solidFill>
                  <a:srgbClr val="000000"/>
                </a:solidFill>
                <a:latin typeface="Times New Roman MT Bold"/>
                <a:ea typeface="Times New Roman MT Bold"/>
                <a:cs typeface="Times New Roman MT Bold"/>
                <a:sym typeface="Times New Roman MT Bold"/>
              </a:rPr>
              <a:t>         </a:t>
            </a:r>
            <a:r>
              <a:rPr lang="en-US" sz="2065">
                <a:solidFill>
                  <a:srgbClr val="000000"/>
                </a:solidFill>
                <a:latin typeface="Times New Roman MT"/>
                <a:ea typeface="Times New Roman MT"/>
                <a:cs typeface="Times New Roman MT"/>
                <a:sym typeface="Times New Roman MT"/>
              </a:rPr>
              <a:t>Features 4,788 images of Cotton crops, focusing on diseases like bacterial blight and leaf curl. This dataset is essential for cotton-specific disease identification.</a:t>
            </a:r>
          </a:p>
          <a:p>
            <a:pPr marL="445986" lvl="1" indent="-222993" algn="l">
              <a:lnSpc>
                <a:spcPts val="2891"/>
              </a:lnSpc>
              <a:buFont typeface="Arial"/>
              <a:buChar char="•"/>
            </a:pPr>
            <a:r>
              <a:rPr lang="en-US" sz="2065">
                <a:solidFill>
                  <a:srgbClr val="000000"/>
                </a:solidFill>
                <a:latin typeface="Alatsi"/>
                <a:ea typeface="Alatsi"/>
                <a:cs typeface="Alatsi"/>
                <a:sym typeface="Alatsi"/>
              </a:rPr>
              <a:t>Wheat Disease Dataset:</a:t>
            </a:r>
          </a:p>
          <a:p>
            <a:pPr algn="l">
              <a:lnSpc>
                <a:spcPts val="2891"/>
              </a:lnSpc>
              <a:spcBef>
                <a:spcPct val="0"/>
              </a:spcBef>
            </a:pPr>
            <a:r>
              <a:rPr lang="en-US" sz="2065" b="1">
                <a:solidFill>
                  <a:srgbClr val="000000"/>
                </a:solidFill>
                <a:latin typeface="Times New Roman MT Bold"/>
                <a:ea typeface="Times New Roman MT Bold"/>
                <a:cs typeface="Times New Roman MT Bold"/>
                <a:sym typeface="Times New Roman MT Bold"/>
              </a:rPr>
              <a:t>         </a:t>
            </a:r>
            <a:r>
              <a:rPr lang="en-US" sz="2065">
                <a:solidFill>
                  <a:srgbClr val="000000"/>
                </a:solidFill>
                <a:latin typeface="Times New Roman MT"/>
                <a:ea typeface="Times New Roman MT"/>
                <a:cs typeface="Times New Roman MT"/>
                <a:sym typeface="Times New Roman MT"/>
              </a:rPr>
              <a:t>Comprises 2,942 images of Wheat crops affected by diseases such as leaf rust and   powdery mildew, supporting precise classification of wheat diseases.</a:t>
            </a:r>
          </a:p>
          <a:p>
            <a:pPr algn="just">
              <a:lnSpc>
                <a:spcPts val="2891"/>
              </a:lnSpc>
              <a:spcBef>
                <a:spcPct val="0"/>
              </a:spcBef>
            </a:pPr>
            <a:endParaRPr lang="en-US" sz="2065">
              <a:solidFill>
                <a:srgbClr val="000000"/>
              </a:solidFill>
              <a:latin typeface="Times New Roman MT"/>
              <a:ea typeface="Times New Roman MT"/>
              <a:cs typeface="Times New Roman MT"/>
              <a:sym typeface="Times New Roman MT"/>
            </a:endParaRPr>
          </a:p>
        </p:txBody>
      </p:sp>
      <p:sp>
        <p:nvSpPr>
          <p:cNvPr id="16" name="TextBox 16"/>
          <p:cNvSpPr txBox="1"/>
          <p:nvPr/>
        </p:nvSpPr>
        <p:spPr>
          <a:xfrm>
            <a:off x="373910" y="6466541"/>
            <a:ext cx="3893701" cy="629920"/>
          </a:xfrm>
          <a:prstGeom prst="rect">
            <a:avLst/>
          </a:prstGeom>
        </p:spPr>
        <p:txBody>
          <a:bodyPr lIns="0" tIns="0" rIns="0" bIns="0" rtlCol="0" anchor="t">
            <a:spAutoFit/>
          </a:bodyPr>
          <a:lstStyle/>
          <a:p>
            <a:pPr algn="ctr">
              <a:lnSpc>
                <a:spcPts val="5179"/>
              </a:lnSpc>
              <a:spcBef>
                <a:spcPct val="0"/>
              </a:spcBef>
            </a:pPr>
            <a:r>
              <a:rPr lang="en-US" sz="3699">
                <a:solidFill>
                  <a:srgbClr val="000000"/>
                </a:solidFill>
                <a:latin typeface="Alatsi"/>
                <a:ea typeface="Alatsi"/>
                <a:cs typeface="Alatsi"/>
                <a:sym typeface="Alatsi"/>
              </a:rPr>
              <a:t>Technologies Used:</a:t>
            </a:r>
          </a:p>
        </p:txBody>
      </p:sp>
      <p:sp>
        <p:nvSpPr>
          <p:cNvPr id="17" name="Freeform 17"/>
          <p:cNvSpPr/>
          <p:nvPr/>
        </p:nvSpPr>
        <p:spPr>
          <a:xfrm>
            <a:off x="55012" y="89674"/>
            <a:ext cx="1947377" cy="1493878"/>
          </a:xfrm>
          <a:custGeom>
            <a:avLst/>
            <a:gdLst/>
            <a:ahLst/>
            <a:cxnLst/>
            <a:rect l="l" t="t" r="r" b="b"/>
            <a:pathLst>
              <a:path w="1947377" h="1493878">
                <a:moveTo>
                  <a:pt x="0" y="0"/>
                </a:moveTo>
                <a:lnTo>
                  <a:pt x="1947376" y="0"/>
                </a:lnTo>
                <a:lnTo>
                  <a:pt x="1947376" y="1493878"/>
                </a:lnTo>
                <a:lnTo>
                  <a:pt x="0" y="1493878"/>
                </a:lnTo>
                <a:lnTo>
                  <a:pt x="0" y="0"/>
                </a:lnTo>
                <a:close/>
              </a:path>
            </a:pathLst>
          </a:custGeom>
          <a:blipFill>
            <a:blip r:embed="rId6"/>
            <a:stretch>
              <a:fillRect l="-15477" t="-31808" r="-11400" b="-23857"/>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grpSp>
        <p:nvGrpSpPr>
          <p:cNvPr id="2" name="Group 2"/>
          <p:cNvGrpSpPr/>
          <p:nvPr/>
        </p:nvGrpSpPr>
        <p:grpSpPr>
          <a:xfrm>
            <a:off x="627362" y="0"/>
            <a:ext cx="937061" cy="10287000"/>
            <a:chOff x="0" y="0"/>
            <a:chExt cx="246798" cy="2709333"/>
          </a:xfrm>
        </p:grpSpPr>
        <p:sp>
          <p:nvSpPr>
            <p:cNvPr id="3" name="Freeform 3"/>
            <p:cNvSpPr/>
            <p:nvPr/>
          </p:nvSpPr>
          <p:spPr>
            <a:xfrm>
              <a:off x="0" y="0"/>
              <a:ext cx="246798" cy="2709333"/>
            </a:xfrm>
            <a:custGeom>
              <a:avLst/>
              <a:gdLst/>
              <a:ahLst/>
              <a:cxnLst/>
              <a:rect l="l" t="t" r="r" b="b"/>
              <a:pathLst>
                <a:path w="246798" h="2709333">
                  <a:moveTo>
                    <a:pt x="0" y="0"/>
                  </a:moveTo>
                  <a:lnTo>
                    <a:pt x="246798" y="0"/>
                  </a:lnTo>
                  <a:lnTo>
                    <a:pt x="246798" y="2709333"/>
                  </a:lnTo>
                  <a:lnTo>
                    <a:pt x="0" y="2709333"/>
                  </a:lnTo>
                  <a:close/>
                </a:path>
              </a:pathLst>
            </a:custGeom>
            <a:solidFill>
              <a:srgbClr val="F6F3EB"/>
            </a:solidFill>
          </p:spPr>
        </p:sp>
        <p:sp>
          <p:nvSpPr>
            <p:cNvPr id="4" name="TextBox 4"/>
            <p:cNvSpPr txBox="1"/>
            <p:nvPr/>
          </p:nvSpPr>
          <p:spPr>
            <a:xfrm>
              <a:off x="0" y="-38100"/>
              <a:ext cx="246798" cy="2747433"/>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rot="-5400000">
            <a:off x="-2373736" y="4911090"/>
            <a:ext cx="6882108" cy="464820"/>
          </a:xfrm>
          <a:prstGeom prst="rect">
            <a:avLst/>
          </a:prstGeom>
        </p:spPr>
        <p:txBody>
          <a:bodyPr lIns="0" tIns="0" rIns="0" bIns="0" rtlCol="0" anchor="t">
            <a:spAutoFit/>
          </a:bodyPr>
          <a:lstStyle/>
          <a:p>
            <a:pPr algn="ctr">
              <a:lnSpc>
                <a:spcPts val="3779"/>
              </a:lnSpc>
            </a:pPr>
            <a:r>
              <a:rPr lang="en-US" sz="2700">
                <a:solidFill>
                  <a:srgbClr val="000000"/>
                </a:solidFill>
                <a:latin typeface="Alatsi"/>
                <a:ea typeface="Alatsi"/>
                <a:cs typeface="Alatsi"/>
                <a:sym typeface="Alatsi"/>
              </a:rPr>
              <a:t>IIIT Pune | 2026</a:t>
            </a:r>
          </a:p>
        </p:txBody>
      </p:sp>
      <p:sp>
        <p:nvSpPr>
          <p:cNvPr id="6" name="AutoShape 6"/>
          <p:cNvSpPr/>
          <p:nvPr/>
        </p:nvSpPr>
        <p:spPr>
          <a:xfrm flipH="1" flipV="1">
            <a:off x="1085850" y="7289441"/>
            <a:ext cx="5403" cy="2997456"/>
          </a:xfrm>
          <a:prstGeom prst="line">
            <a:avLst/>
          </a:prstGeom>
          <a:ln w="114300" cap="flat">
            <a:solidFill>
              <a:srgbClr val="9FC3D0"/>
            </a:solidFill>
            <a:prstDash val="solid"/>
            <a:headEnd type="none" w="sm" len="sm"/>
            <a:tailEnd type="none" w="sm" len="sm"/>
          </a:ln>
        </p:spPr>
      </p:sp>
      <p:sp>
        <p:nvSpPr>
          <p:cNvPr id="7" name="AutoShape 7"/>
          <p:cNvSpPr/>
          <p:nvPr/>
        </p:nvSpPr>
        <p:spPr>
          <a:xfrm flipH="1" flipV="1">
            <a:off x="1090490" y="-104525"/>
            <a:ext cx="5403" cy="2997456"/>
          </a:xfrm>
          <a:prstGeom prst="line">
            <a:avLst/>
          </a:prstGeom>
          <a:ln w="114300" cap="flat">
            <a:solidFill>
              <a:srgbClr val="9FC3D0"/>
            </a:solidFill>
            <a:prstDash val="solid"/>
            <a:headEnd type="none" w="sm" len="sm"/>
            <a:tailEnd type="none" w="sm" len="sm"/>
          </a:ln>
        </p:spPr>
      </p:sp>
      <p:grpSp>
        <p:nvGrpSpPr>
          <p:cNvPr id="8" name="Group 8"/>
          <p:cNvGrpSpPr/>
          <p:nvPr/>
        </p:nvGrpSpPr>
        <p:grpSpPr>
          <a:xfrm>
            <a:off x="15859155" y="0"/>
            <a:ext cx="1562612" cy="1673225"/>
            <a:chOff x="0" y="0"/>
            <a:chExt cx="2083482" cy="2230967"/>
          </a:xfrm>
        </p:grpSpPr>
        <p:grpSp>
          <p:nvGrpSpPr>
            <p:cNvPr id="9" name="Group 9"/>
            <p:cNvGrpSpPr/>
            <p:nvPr/>
          </p:nvGrpSpPr>
          <p:grpSpPr>
            <a:xfrm>
              <a:off x="75599" y="0"/>
              <a:ext cx="1932284" cy="2230967"/>
              <a:chOff x="0" y="0"/>
              <a:chExt cx="703982" cy="812800"/>
            </a:xfrm>
          </p:grpSpPr>
          <p:sp>
            <p:nvSpPr>
              <p:cNvPr id="10" name="Freeform 10"/>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id="11" name="TextBox 11"/>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b="1">
                  <a:solidFill>
                    <a:srgbClr val="000000"/>
                  </a:solidFill>
                  <a:latin typeface="Open Sans Bold"/>
                  <a:ea typeface="Open Sans Bold"/>
                  <a:cs typeface="Open Sans Bold"/>
                  <a:sym typeface="Open Sans Bold"/>
                </a:rPr>
                <a:t>6</a:t>
              </a:r>
            </a:p>
          </p:txBody>
        </p:sp>
      </p:grpSp>
      <p:sp>
        <p:nvSpPr>
          <p:cNvPr id="13" name="Freeform 13"/>
          <p:cNvSpPr/>
          <p:nvPr/>
        </p:nvSpPr>
        <p:spPr>
          <a:xfrm>
            <a:off x="11804788" y="9258300"/>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4" name="Freeform 14"/>
          <p:cNvSpPr/>
          <p:nvPr/>
        </p:nvSpPr>
        <p:spPr>
          <a:xfrm>
            <a:off x="9144000" y="3179822"/>
            <a:ext cx="8651283" cy="5589018"/>
          </a:xfrm>
          <a:custGeom>
            <a:avLst/>
            <a:gdLst/>
            <a:ahLst/>
            <a:cxnLst/>
            <a:rect l="l" t="t" r="r" b="b"/>
            <a:pathLst>
              <a:path w="8651283" h="5589018">
                <a:moveTo>
                  <a:pt x="0" y="0"/>
                </a:moveTo>
                <a:lnTo>
                  <a:pt x="8651283" y="0"/>
                </a:lnTo>
                <a:lnTo>
                  <a:pt x="8651283" y="5589018"/>
                </a:lnTo>
                <a:lnTo>
                  <a:pt x="0" y="5589018"/>
                </a:lnTo>
                <a:lnTo>
                  <a:pt x="0" y="0"/>
                </a:lnTo>
                <a:close/>
              </a:path>
            </a:pathLst>
          </a:custGeom>
          <a:blipFill>
            <a:blip r:embed="rId3"/>
            <a:stretch>
              <a:fillRect l="-5720" r="-5720"/>
            </a:stretch>
          </a:blipFill>
        </p:spPr>
      </p:sp>
      <p:sp>
        <p:nvSpPr>
          <p:cNvPr id="15" name="Freeform 15"/>
          <p:cNvSpPr/>
          <p:nvPr/>
        </p:nvSpPr>
        <p:spPr>
          <a:xfrm>
            <a:off x="55012" y="0"/>
            <a:ext cx="1947377" cy="1493878"/>
          </a:xfrm>
          <a:custGeom>
            <a:avLst/>
            <a:gdLst/>
            <a:ahLst/>
            <a:cxnLst/>
            <a:rect l="l" t="t" r="r" b="b"/>
            <a:pathLst>
              <a:path w="1947377" h="1493878">
                <a:moveTo>
                  <a:pt x="0" y="0"/>
                </a:moveTo>
                <a:lnTo>
                  <a:pt x="1947376" y="0"/>
                </a:lnTo>
                <a:lnTo>
                  <a:pt x="1947376" y="1493878"/>
                </a:lnTo>
                <a:lnTo>
                  <a:pt x="0" y="1493878"/>
                </a:lnTo>
                <a:lnTo>
                  <a:pt x="0" y="0"/>
                </a:lnTo>
                <a:close/>
              </a:path>
            </a:pathLst>
          </a:custGeom>
          <a:blipFill>
            <a:blip r:embed="rId4"/>
            <a:stretch>
              <a:fillRect l="-15477" t="-31808" r="-11400" b="-23857"/>
            </a:stretch>
          </a:blipFill>
        </p:spPr>
      </p:sp>
      <p:sp>
        <p:nvSpPr>
          <p:cNvPr id="16" name="Freeform 16"/>
          <p:cNvSpPr/>
          <p:nvPr/>
        </p:nvSpPr>
        <p:spPr>
          <a:xfrm>
            <a:off x="2307482" y="1673225"/>
            <a:ext cx="6093460" cy="8304545"/>
          </a:xfrm>
          <a:custGeom>
            <a:avLst/>
            <a:gdLst/>
            <a:ahLst/>
            <a:cxnLst/>
            <a:rect l="l" t="t" r="r" b="b"/>
            <a:pathLst>
              <a:path w="6093460" h="8304545">
                <a:moveTo>
                  <a:pt x="0" y="0"/>
                </a:moveTo>
                <a:lnTo>
                  <a:pt x="6093459" y="0"/>
                </a:lnTo>
                <a:lnTo>
                  <a:pt x="6093459" y="8304545"/>
                </a:lnTo>
                <a:lnTo>
                  <a:pt x="0" y="8304545"/>
                </a:lnTo>
                <a:lnTo>
                  <a:pt x="0" y="0"/>
                </a:lnTo>
                <a:close/>
              </a:path>
            </a:pathLst>
          </a:custGeom>
          <a:blipFill>
            <a:blip r:embed="rId5"/>
            <a:stretch>
              <a:fillRect/>
            </a:stretch>
          </a:blipFill>
        </p:spPr>
      </p:sp>
      <p:sp>
        <p:nvSpPr>
          <p:cNvPr id="17" name="TextBox 17"/>
          <p:cNvSpPr txBox="1"/>
          <p:nvPr/>
        </p:nvSpPr>
        <p:spPr>
          <a:xfrm>
            <a:off x="3021578" y="30162"/>
            <a:ext cx="13180039" cy="1450976"/>
          </a:xfrm>
          <a:prstGeom prst="rect">
            <a:avLst/>
          </a:prstGeom>
        </p:spPr>
        <p:txBody>
          <a:bodyPr lIns="0" tIns="0" rIns="0" bIns="0" rtlCol="0" anchor="t">
            <a:spAutoFit/>
          </a:bodyPr>
          <a:lstStyle/>
          <a:p>
            <a:pPr algn="ctr">
              <a:lnSpc>
                <a:spcPts val="11899"/>
              </a:lnSpc>
            </a:pPr>
            <a:r>
              <a:rPr lang="en-US" sz="8499">
                <a:solidFill>
                  <a:srgbClr val="000000"/>
                </a:solidFill>
                <a:latin typeface="Alatsi"/>
                <a:ea typeface="Alatsi"/>
                <a:cs typeface="Alatsi"/>
                <a:sym typeface="Alatsi"/>
              </a:rPr>
              <a:t>IMPLEMENTATION</a:t>
            </a:r>
          </a:p>
        </p:txBody>
      </p:sp>
      <p:sp>
        <p:nvSpPr>
          <p:cNvPr id="18" name="TextBox 18"/>
          <p:cNvSpPr txBox="1"/>
          <p:nvPr/>
        </p:nvSpPr>
        <p:spPr>
          <a:xfrm>
            <a:off x="9144000" y="1982182"/>
            <a:ext cx="8651283" cy="629920"/>
          </a:xfrm>
          <a:prstGeom prst="rect">
            <a:avLst/>
          </a:prstGeom>
        </p:spPr>
        <p:txBody>
          <a:bodyPr lIns="0" tIns="0" rIns="0" bIns="0" rtlCol="0" anchor="t">
            <a:spAutoFit/>
          </a:bodyPr>
          <a:lstStyle/>
          <a:p>
            <a:pPr algn="ctr">
              <a:lnSpc>
                <a:spcPts val="5179"/>
              </a:lnSpc>
              <a:spcBef>
                <a:spcPct val="0"/>
              </a:spcBef>
            </a:pPr>
            <a:r>
              <a:rPr lang="en-US" sz="3699">
                <a:solidFill>
                  <a:srgbClr val="000000"/>
                </a:solidFill>
                <a:latin typeface="Alatsi"/>
                <a:ea typeface="Alatsi"/>
                <a:cs typeface="Alatsi"/>
                <a:sym typeface="Alatsi"/>
              </a:rPr>
              <a:t>Model Features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grpSp>
        <p:nvGrpSpPr>
          <p:cNvPr id="2" name="Group 2"/>
          <p:cNvGrpSpPr/>
          <p:nvPr/>
        </p:nvGrpSpPr>
        <p:grpSpPr>
          <a:xfrm>
            <a:off x="15859155" y="0"/>
            <a:ext cx="1562612" cy="1673225"/>
            <a:chOff x="0" y="0"/>
            <a:chExt cx="2083482" cy="2230967"/>
          </a:xfrm>
        </p:grpSpPr>
        <p:grpSp>
          <p:nvGrpSpPr>
            <p:cNvPr id="3" name="Group 3"/>
            <p:cNvGrpSpPr/>
            <p:nvPr/>
          </p:nvGrpSpPr>
          <p:grpSpPr>
            <a:xfrm>
              <a:off x="75599" y="0"/>
              <a:ext cx="1932284" cy="2230967"/>
              <a:chOff x="0" y="0"/>
              <a:chExt cx="703982" cy="812800"/>
            </a:xfrm>
          </p:grpSpPr>
          <p:sp>
            <p:nvSpPr>
              <p:cNvPr id="4" name="Freeform 4"/>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id="5" name="TextBox 5"/>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b="1">
                  <a:solidFill>
                    <a:srgbClr val="000000"/>
                  </a:solidFill>
                  <a:latin typeface="Open Sans Bold"/>
                  <a:ea typeface="Open Sans Bold"/>
                  <a:cs typeface="Open Sans Bold"/>
                  <a:sym typeface="Open Sans Bold"/>
                </a:rPr>
                <a:t>7</a:t>
              </a:r>
            </a:p>
          </p:txBody>
        </p:sp>
      </p:grpSp>
      <p:sp>
        <p:nvSpPr>
          <p:cNvPr id="7" name="Freeform 7"/>
          <p:cNvSpPr/>
          <p:nvPr/>
        </p:nvSpPr>
        <p:spPr>
          <a:xfrm>
            <a:off x="11804788" y="9258300"/>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8" name="Freeform 8"/>
          <p:cNvSpPr/>
          <p:nvPr/>
        </p:nvSpPr>
        <p:spPr>
          <a:xfrm>
            <a:off x="55012" y="0"/>
            <a:ext cx="1947377" cy="1493878"/>
          </a:xfrm>
          <a:custGeom>
            <a:avLst/>
            <a:gdLst/>
            <a:ahLst/>
            <a:cxnLst/>
            <a:rect l="l" t="t" r="r" b="b"/>
            <a:pathLst>
              <a:path w="1947377" h="1493878">
                <a:moveTo>
                  <a:pt x="0" y="0"/>
                </a:moveTo>
                <a:lnTo>
                  <a:pt x="1947376" y="0"/>
                </a:lnTo>
                <a:lnTo>
                  <a:pt x="1947376" y="1493878"/>
                </a:lnTo>
                <a:lnTo>
                  <a:pt x="0" y="1493878"/>
                </a:lnTo>
                <a:lnTo>
                  <a:pt x="0" y="0"/>
                </a:lnTo>
                <a:close/>
              </a:path>
            </a:pathLst>
          </a:custGeom>
          <a:blipFill>
            <a:blip r:embed="rId3"/>
            <a:stretch>
              <a:fillRect l="-15477" t="-31808" r="-11400" b="-23857"/>
            </a:stretch>
          </a:blipFill>
        </p:spPr>
      </p:sp>
      <p:sp>
        <p:nvSpPr>
          <p:cNvPr id="9" name="Freeform 9"/>
          <p:cNvSpPr/>
          <p:nvPr/>
        </p:nvSpPr>
        <p:spPr>
          <a:xfrm>
            <a:off x="330742" y="3157898"/>
            <a:ext cx="17304417" cy="3511041"/>
          </a:xfrm>
          <a:custGeom>
            <a:avLst/>
            <a:gdLst/>
            <a:ahLst/>
            <a:cxnLst/>
            <a:rect l="l" t="t" r="r" b="b"/>
            <a:pathLst>
              <a:path w="17304417" h="3511041">
                <a:moveTo>
                  <a:pt x="0" y="0"/>
                </a:moveTo>
                <a:lnTo>
                  <a:pt x="17304417" y="0"/>
                </a:lnTo>
                <a:lnTo>
                  <a:pt x="17304417" y="3511042"/>
                </a:lnTo>
                <a:lnTo>
                  <a:pt x="0" y="3511042"/>
                </a:lnTo>
                <a:lnTo>
                  <a:pt x="0" y="0"/>
                </a:lnTo>
                <a:close/>
              </a:path>
            </a:pathLst>
          </a:custGeom>
          <a:blipFill>
            <a:blip r:embed="rId4"/>
            <a:stretch>
              <a:fillRect l="-2054" t="-12737" r="-2168" b="-229709"/>
            </a:stretch>
          </a:blipFill>
        </p:spPr>
      </p:sp>
      <p:sp>
        <p:nvSpPr>
          <p:cNvPr id="10" name="TextBox 10"/>
          <p:cNvSpPr txBox="1"/>
          <p:nvPr/>
        </p:nvSpPr>
        <p:spPr>
          <a:xfrm>
            <a:off x="3021578" y="30162"/>
            <a:ext cx="13180039" cy="1450976"/>
          </a:xfrm>
          <a:prstGeom prst="rect">
            <a:avLst/>
          </a:prstGeom>
        </p:spPr>
        <p:txBody>
          <a:bodyPr lIns="0" tIns="0" rIns="0" bIns="0" rtlCol="0" anchor="t">
            <a:spAutoFit/>
          </a:bodyPr>
          <a:lstStyle/>
          <a:p>
            <a:pPr algn="ctr">
              <a:lnSpc>
                <a:spcPts val="11899"/>
              </a:lnSpc>
            </a:pPr>
            <a:r>
              <a:rPr lang="en-US" sz="8499">
                <a:solidFill>
                  <a:srgbClr val="000000"/>
                </a:solidFill>
                <a:latin typeface="Alatsi"/>
                <a:ea typeface="Alatsi"/>
                <a:cs typeface="Alatsi"/>
                <a:sym typeface="Alatsi"/>
              </a:rPr>
              <a:t>IMPLEMENTATION</a:t>
            </a:r>
          </a:p>
        </p:txBody>
      </p:sp>
      <p:sp>
        <p:nvSpPr>
          <p:cNvPr id="11" name="TextBox 11"/>
          <p:cNvSpPr txBox="1"/>
          <p:nvPr/>
        </p:nvSpPr>
        <p:spPr>
          <a:xfrm>
            <a:off x="5702946" y="8800282"/>
            <a:ext cx="6882108" cy="464820"/>
          </a:xfrm>
          <a:prstGeom prst="rect">
            <a:avLst/>
          </a:prstGeom>
        </p:spPr>
        <p:txBody>
          <a:bodyPr lIns="0" tIns="0" rIns="0" bIns="0" rtlCol="0" anchor="t">
            <a:spAutoFit/>
          </a:bodyPr>
          <a:lstStyle/>
          <a:p>
            <a:pPr algn="ctr">
              <a:lnSpc>
                <a:spcPts val="3779"/>
              </a:lnSpc>
            </a:pPr>
            <a:r>
              <a:rPr lang="en-US" sz="2700">
                <a:solidFill>
                  <a:srgbClr val="000000"/>
                </a:solidFill>
                <a:latin typeface="Alatsi"/>
                <a:ea typeface="Alatsi"/>
                <a:cs typeface="Alatsi"/>
                <a:sym typeface="Alatsi"/>
              </a:rPr>
              <a:t>IIIT Pune | 2026</a:t>
            </a:r>
          </a:p>
        </p:txBody>
      </p:sp>
      <p:sp>
        <p:nvSpPr>
          <p:cNvPr id="12" name="AutoShape 12"/>
          <p:cNvSpPr/>
          <p:nvPr/>
        </p:nvSpPr>
        <p:spPr>
          <a:xfrm>
            <a:off x="-260599" y="9061267"/>
            <a:ext cx="7105264" cy="19050"/>
          </a:xfrm>
          <a:prstGeom prst="line">
            <a:avLst/>
          </a:prstGeom>
          <a:ln w="114300" cap="flat">
            <a:solidFill>
              <a:srgbClr val="9FC3D0"/>
            </a:solidFill>
            <a:prstDash val="solid"/>
            <a:headEnd type="none" w="sm" len="sm"/>
            <a:tailEnd type="none" w="sm" len="sm"/>
          </a:ln>
        </p:spPr>
      </p:sp>
      <p:sp>
        <p:nvSpPr>
          <p:cNvPr id="13" name="AutoShape 13"/>
          <p:cNvSpPr/>
          <p:nvPr/>
        </p:nvSpPr>
        <p:spPr>
          <a:xfrm>
            <a:off x="11430169" y="9061267"/>
            <a:ext cx="7105264" cy="19050"/>
          </a:xfrm>
          <a:prstGeom prst="line">
            <a:avLst/>
          </a:prstGeom>
          <a:ln w="114300" cap="flat">
            <a:solidFill>
              <a:srgbClr val="9FC3D0"/>
            </a:solidFill>
            <a:prstDash val="solid"/>
            <a:headEnd type="none" w="sm" len="sm"/>
            <a:tailEnd type="none" w="sm" len="sm"/>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rot="-5400000">
            <a:off x="-2373736" y="4911090"/>
            <a:ext cx="6882108" cy="464820"/>
          </a:xfrm>
          <a:prstGeom prst="rect">
            <a:avLst/>
          </a:prstGeom>
        </p:spPr>
        <p:txBody>
          <a:bodyPr lIns="0" tIns="0" rIns="0" bIns="0" rtlCol="0" anchor="t">
            <a:spAutoFit/>
          </a:bodyPr>
          <a:lstStyle/>
          <a:p>
            <a:pPr algn="ctr">
              <a:lnSpc>
                <a:spcPts val="3779"/>
              </a:lnSpc>
            </a:pPr>
            <a:r>
              <a:rPr lang="en-US" sz="2700">
                <a:solidFill>
                  <a:srgbClr val="000000"/>
                </a:solidFill>
                <a:latin typeface="Alatsi"/>
                <a:ea typeface="Alatsi"/>
                <a:cs typeface="Alatsi"/>
                <a:sym typeface="Alatsi"/>
              </a:rPr>
              <a:t>IIIT Pune | 2026</a:t>
            </a:r>
          </a:p>
        </p:txBody>
      </p:sp>
      <p:sp>
        <p:nvSpPr>
          <p:cNvPr id="3" name="AutoShape 3"/>
          <p:cNvSpPr/>
          <p:nvPr/>
        </p:nvSpPr>
        <p:spPr>
          <a:xfrm flipH="1" flipV="1">
            <a:off x="1085850" y="7289441"/>
            <a:ext cx="5403" cy="2997456"/>
          </a:xfrm>
          <a:prstGeom prst="line">
            <a:avLst/>
          </a:prstGeom>
          <a:ln w="114300" cap="flat">
            <a:solidFill>
              <a:srgbClr val="9FC3D0"/>
            </a:solidFill>
            <a:prstDash val="solid"/>
            <a:headEnd type="none" w="sm" len="sm"/>
            <a:tailEnd type="none" w="sm" len="sm"/>
          </a:ln>
        </p:spPr>
      </p:sp>
      <p:sp>
        <p:nvSpPr>
          <p:cNvPr id="4" name="AutoShape 4"/>
          <p:cNvSpPr/>
          <p:nvPr/>
        </p:nvSpPr>
        <p:spPr>
          <a:xfrm flipV="1">
            <a:off x="1095893" y="1702446"/>
            <a:ext cx="0" cy="1190485"/>
          </a:xfrm>
          <a:prstGeom prst="line">
            <a:avLst/>
          </a:prstGeom>
          <a:ln w="114300" cap="flat">
            <a:solidFill>
              <a:srgbClr val="9FC3D0"/>
            </a:solidFill>
            <a:prstDash val="solid"/>
            <a:headEnd type="none" w="sm" len="sm"/>
            <a:tailEnd type="none" w="sm" len="sm"/>
          </a:ln>
        </p:spPr>
      </p:sp>
      <p:grpSp>
        <p:nvGrpSpPr>
          <p:cNvPr id="5" name="Group 5"/>
          <p:cNvGrpSpPr/>
          <p:nvPr/>
        </p:nvGrpSpPr>
        <p:grpSpPr>
          <a:xfrm>
            <a:off x="15859155" y="0"/>
            <a:ext cx="1562612" cy="1673225"/>
            <a:chOff x="0" y="0"/>
            <a:chExt cx="2083482" cy="2230967"/>
          </a:xfrm>
        </p:grpSpPr>
        <p:grpSp>
          <p:nvGrpSpPr>
            <p:cNvPr id="6" name="Group 6"/>
            <p:cNvGrpSpPr/>
            <p:nvPr/>
          </p:nvGrpSpPr>
          <p:grpSpPr>
            <a:xfrm>
              <a:off x="75599" y="0"/>
              <a:ext cx="1932284" cy="2230967"/>
              <a:chOff x="0" y="0"/>
              <a:chExt cx="703982" cy="812800"/>
            </a:xfrm>
          </p:grpSpPr>
          <p:sp>
            <p:nvSpPr>
              <p:cNvPr id="7" name="Freeform 7"/>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id="8" name="TextBox 8"/>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b="1">
                  <a:solidFill>
                    <a:srgbClr val="000000"/>
                  </a:solidFill>
                  <a:latin typeface="Open Sans Bold"/>
                  <a:ea typeface="Open Sans Bold"/>
                  <a:cs typeface="Open Sans Bold"/>
                  <a:sym typeface="Open Sans Bold"/>
                </a:rPr>
                <a:t>8</a:t>
              </a:r>
            </a:p>
          </p:txBody>
        </p:sp>
      </p:grpSp>
      <p:sp>
        <p:nvSpPr>
          <p:cNvPr id="10" name="Freeform 10"/>
          <p:cNvSpPr/>
          <p:nvPr/>
        </p:nvSpPr>
        <p:spPr>
          <a:xfrm>
            <a:off x="10721225" y="8788169"/>
            <a:ext cx="7315200" cy="2477783"/>
          </a:xfrm>
          <a:custGeom>
            <a:avLst/>
            <a:gdLst/>
            <a:ahLst/>
            <a:cxnLst/>
            <a:rect l="l" t="t" r="r" b="b"/>
            <a:pathLst>
              <a:path w="7315200" h="2477783">
                <a:moveTo>
                  <a:pt x="0" y="0"/>
                </a:moveTo>
                <a:lnTo>
                  <a:pt x="7315200" y="0"/>
                </a:lnTo>
                <a:lnTo>
                  <a:pt x="7315200" y="2477784"/>
                </a:lnTo>
                <a:lnTo>
                  <a:pt x="0" y="247778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1" name="Freeform 11"/>
          <p:cNvSpPr/>
          <p:nvPr/>
        </p:nvSpPr>
        <p:spPr>
          <a:xfrm>
            <a:off x="1550067" y="3150405"/>
            <a:ext cx="5999479" cy="5637764"/>
          </a:xfrm>
          <a:custGeom>
            <a:avLst/>
            <a:gdLst/>
            <a:ahLst/>
            <a:cxnLst/>
            <a:rect l="l" t="t" r="r" b="b"/>
            <a:pathLst>
              <a:path w="5999479" h="5637764">
                <a:moveTo>
                  <a:pt x="0" y="0"/>
                </a:moveTo>
                <a:lnTo>
                  <a:pt x="5999479" y="0"/>
                </a:lnTo>
                <a:lnTo>
                  <a:pt x="5999479" y="5637764"/>
                </a:lnTo>
                <a:lnTo>
                  <a:pt x="0" y="5637764"/>
                </a:lnTo>
                <a:lnTo>
                  <a:pt x="0" y="0"/>
                </a:lnTo>
                <a:close/>
              </a:path>
            </a:pathLst>
          </a:custGeom>
          <a:blipFill>
            <a:blip r:embed="rId3"/>
            <a:stretch>
              <a:fillRect/>
            </a:stretch>
          </a:blipFill>
        </p:spPr>
      </p:sp>
      <p:sp>
        <p:nvSpPr>
          <p:cNvPr id="12" name="Freeform 12"/>
          <p:cNvSpPr/>
          <p:nvPr/>
        </p:nvSpPr>
        <p:spPr>
          <a:xfrm>
            <a:off x="8258103" y="5589134"/>
            <a:ext cx="9634623" cy="915289"/>
          </a:xfrm>
          <a:custGeom>
            <a:avLst/>
            <a:gdLst/>
            <a:ahLst/>
            <a:cxnLst/>
            <a:rect l="l" t="t" r="r" b="b"/>
            <a:pathLst>
              <a:path w="9634623" h="915289">
                <a:moveTo>
                  <a:pt x="0" y="0"/>
                </a:moveTo>
                <a:lnTo>
                  <a:pt x="9634623" y="0"/>
                </a:lnTo>
                <a:lnTo>
                  <a:pt x="9634623" y="915289"/>
                </a:lnTo>
                <a:lnTo>
                  <a:pt x="0" y="915289"/>
                </a:lnTo>
                <a:lnTo>
                  <a:pt x="0" y="0"/>
                </a:lnTo>
                <a:close/>
              </a:path>
            </a:pathLst>
          </a:custGeom>
          <a:blipFill>
            <a:blip r:embed="rId4"/>
            <a:stretch>
              <a:fillRect/>
            </a:stretch>
          </a:blipFill>
        </p:spPr>
      </p:sp>
      <p:sp>
        <p:nvSpPr>
          <p:cNvPr id="13" name="TextBox 13"/>
          <p:cNvSpPr txBox="1"/>
          <p:nvPr/>
        </p:nvSpPr>
        <p:spPr>
          <a:xfrm>
            <a:off x="2553980" y="251471"/>
            <a:ext cx="13180039" cy="1450976"/>
          </a:xfrm>
          <a:prstGeom prst="rect">
            <a:avLst/>
          </a:prstGeom>
        </p:spPr>
        <p:txBody>
          <a:bodyPr lIns="0" tIns="0" rIns="0" bIns="0" rtlCol="0" anchor="t">
            <a:spAutoFit/>
          </a:bodyPr>
          <a:lstStyle/>
          <a:p>
            <a:pPr algn="ctr">
              <a:lnSpc>
                <a:spcPts val="11899"/>
              </a:lnSpc>
            </a:pPr>
            <a:r>
              <a:rPr lang="en-US" sz="8499">
                <a:solidFill>
                  <a:srgbClr val="000000"/>
                </a:solidFill>
                <a:latin typeface="Alatsi"/>
                <a:ea typeface="Alatsi"/>
                <a:cs typeface="Alatsi"/>
                <a:sym typeface="Alatsi"/>
              </a:rPr>
              <a:t>PROPOSED METHODOLOGY</a:t>
            </a:r>
          </a:p>
        </p:txBody>
      </p:sp>
      <p:sp>
        <p:nvSpPr>
          <p:cNvPr id="14" name="TextBox 14"/>
          <p:cNvSpPr txBox="1"/>
          <p:nvPr/>
        </p:nvSpPr>
        <p:spPr>
          <a:xfrm>
            <a:off x="10769072" y="4391183"/>
            <a:ext cx="4166128" cy="598305"/>
          </a:xfrm>
          <a:prstGeom prst="rect">
            <a:avLst/>
          </a:prstGeom>
        </p:spPr>
        <p:txBody>
          <a:bodyPr wrap="square" lIns="0" tIns="0" rIns="0" bIns="0" rtlCol="0" anchor="t">
            <a:spAutoFit/>
          </a:bodyPr>
          <a:lstStyle/>
          <a:p>
            <a:pPr algn="ctr">
              <a:lnSpc>
                <a:spcPts val="4900"/>
              </a:lnSpc>
              <a:spcBef>
                <a:spcPct val="0"/>
              </a:spcBef>
            </a:pPr>
            <a:r>
              <a:rPr lang="en-US" sz="3500" b="1" dirty="0">
                <a:solidFill>
                  <a:srgbClr val="000000"/>
                </a:solidFill>
                <a:latin typeface="Times New Roman MT Bold"/>
                <a:ea typeface="Times New Roman MT Bold"/>
                <a:cs typeface="Times New Roman MT Bold"/>
                <a:sym typeface="Times New Roman MT Bold"/>
              </a:rPr>
              <a:t>Skip Connection Cell</a:t>
            </a:r>
          </a:p>
        </p:txBody>
      </p:sp>
      <p:sp>
        <p:nvSpPr>
          <p:cNvPr id="15" name="TextBox 15"/>
          <p:cNvSpPr txBox="1"/>
          <p:nvPr/>
        </p:nvSpPr>
        <p:spPr>
          <a:xfrm>
            <a:off x="3257680" y="2326090"/>
            <a:ext cx="2914520" cy="598305"/>
          </a:xfrm>
          <a:prstGeom prst="rect">
            <a:avLst/>
          </a:prstGeom>
        </p:spPr>
        <p:txBody>
          <a:bodyPr wrap="square" lIns="0" tIns="0" rIns="0" bIns="0" rtlCol="0" anchor="t">
            <a:spAutoFit/>
          </a:bodyPr>
          <a:lstStyle/>
          <a:p>
            <a:pPr algn="ctr">
              <a:lnSpc>
                <a:spcPts val="4900"/>
              </a:lnSpc>
              <a:spcBef>
                <a:spcPct val="0"/>
              </a:spcBef>
            </a:pPr>
            <a:r>
              <a:rPr lang="en-US" sz="3500" b="1" dirty="0">
                <a:solidFill>
                  <a:srgbClr val="000000"/>
                </a:solidFill>
                <a:latin typeface="Times New Roman MT Bold"/>
                <a:ea typeface="Times New Roman MT Bold"/>
                <a:cs typeface="Times New Roman MT Bold"/>
                <a:sym typeface="Times New Roman MT Bold"/>
              </a:rPr>
              <a:t>Inception Cell</a:t>
            </a:r>
          </a:p>
        </p:txBody>
      </p:sp>
      <p:sp>
        <p:nvSpPr>
          <p:cNvPr id="16" name="Freeform 16"/>
          <p:cNvSpPr/>
          <p:nvPr/>
        </p:nvSpPr>
        <p:spPr>
          <a:xfrm>
            <a:off x="55012" y="89674"/>
            <a:ext cx="1947377" cy="1493878"/>
          </a:xfrm>
          <a:custGeom>
            <a:avLst/>
            <a:gdLst/>
            <a:ahLst/>
            <a:cxnLst/>
            <a:rect l="l" t="t" r="r" b="b"/>
            <a:pathLst>
              <a:path w="1947377" h="1493878">
                <a:moveTo>
                  <a:pt x="0" y="0"/>
                </a:moveTo>
                <a:lnTo>
                  <a:pt x="1947376" y="0"/>
                </a:lnTo>
                <a:lnTo>
                  <a:pt x="1947376" y="1493878"/>
                </a:lnTo>
                <a:lnTo>
                  <a:pt x="0" y="1493878"/>
                </a:lnTo>
                <a:lnTo>
                  <a:pt x="0" y="0"/>
                </a:lnTo>
                <a:close/>
              </a:path>
            </a:pathLst>
          </a:custGeom>
          <a:blipFill>
            <a:blip r:embed="rId5"/>
            <a:stretch>
              <a:fillRect l="-15477" t="-31808" r="-11400" b="-23857"/>
            </a:stretch>
          </a:blipFill>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1028700" y="30162"/>
            <a:ext cx="15815306" cy="1450976"/>
          </a:xfrm>
          <a:prstGeom prst="rect">
            <a:avLst/>
          </a:prstGeom>
        </p:spPr>
        <p:txBody>
          <a:bodyPr lIns="0" tIns="0" rIns="0" bIns="0" rtlCol="0" anchor="t">
            <a:spAutoFit/>
          </a:bodyPr>
          <a:lstStyle/>
          <a:p>
            <a:pPr algn="ctr">
              <a:lnSpc>
                <a:spcPts val="11899"/>
              </a:lnSpc>
            </a:pPr>
            <a:r>
              <a:rPr lang="en-US" sz="8499">
                <a:solidFill>
                  <a:srgbClr val="000000"/>
                </a:solidFill>
                <a:latin typeface="Alatsi"/>
                <a:ea typeface="Alatsi"/>
                <a:cs typeface="Alatsi"/>
                <a:sym typeface="Alatsi"/>
              </a:rPr>
              <a:t>RESULTS</a:t>
            </a:r>
          </a:p>
        </p:txBody>
      </p:sp>
      <p:sp>
        <p:nvSpPr>
          <p:cNvPr id="3" name="TextBox 3"/>
          <p:cNvSpPr txBox="1"/>
          <p:nvPr/>
        </p:nvSpPr>
        <p:spPr>
          <a:xfrm>
            <a:off x="5709529" y="9200332"/>
            <a:ext cx="6882108" cy="464820"/>
          </a:xfrm>
          <a:prstGeom prst="rect">
            <a:avLst/>
          </a:prstGeom>
        </p:spPr>
        <p:txBody>
          <a:bodyPr lIns="0" tIns="0" rIns="0" bIns="0" rtlCol="0" anchor="t">
            <a:spAutoFit/>
          </a:bodyPr>
          <a:lstStyle/>
          <a:p>
            <a:pPr algn="ctr">
              <a:lnSpc>
                <a:spcPts val="3779"/>
              </a:lnSpc>
            </a:pPr>
            <a:r>
              <a:rPr lang="en-US" sz="2700">
                <a:solidFill>
                  <a:srgbClr val="000000"/>
                </a:solidFill>
                <a:latin typeface="Alatsi"/>
                <a:ea typeface="Alatsi"/>
                <a:cs typeface="Alatsi"/>
                <a:sym typeface="Alatsi"/>
              </a:rPr>
              <a:t>IIIT Pune | 2026</a:t>
            </a:r>
          </a:p>
        </p:txBody>
      </p:sp>
      <p:sp>
        <p:nvSpPr>
          <p:cNvPr id="4" name="AutoShape 4"/>
          <p:cNvSpPr/>
          <p:nvPr/>
        </p:nvSpPr>
        <p:spPr>
          <a:xfrm>
            <a:off x="-254016" y="9461317"/>
            <a:ext cx="7105264" cy="19050"/>
          </a:xfrm>
          <a:prstGeom prst="line">
            <a:avLst/>
          </a:prstGeom>
          <a:ln w="114300" cap="flat">
            <a:solidFill>
              <a:srgbClr val="9FC3D0"/>
            </a:solidFill>
            <a:prstDash val="solid"/>
            <a:headEnd type="none" w="sm" len="sm"/>
            <a:tailEnd type="none" w="sm" len="sm"/>
          </a:ln>
        </p:spPr>
      </p:sp>
      <p:sp>
        <p:nvSpPr>
          <p:cNvPr id="5" name="AutoShape 5"/>
          <p:cNvSpPr/>
          <p:nvPr/>
        </p:nvSpPr>
        <p:spPr>
          <a:xfrm>
            <a:off x="11436752" y="9461317"/>
            <a:ext cx="7105264" cy="19050"/>
          </a:xfrm>
          <a:prstGeom prst="line">
            <a:avLst/>
          </a:prstGeom>
          <a:ln w="114300" cap="flat">
            <a:solidFill>
              <a:srgbClr val="9FC3D0"/>
            </a:solidFill>
            <a:prstDash val="solid"/>
            <a:headEnd type="none" w="sm" len="sm"/>
            <a:tailEnd type="none" w="sm" len="sm"/>
          </a:ln>
        </p:spPr>
      </p:sp>
      <p:grpSp>
        <p:nvGrpSpPr>
          <p:cNvPr id="6" name="Group 6"/>
          <p:cNvGrpSpPr/>
          <p:nvPr/>
        </p:nvGrpSpPr>
        <p:grpSpPr>
          <a:xfrm>
            <a:off x="15859155" y="0"/>
            <a:ext cx="1562612" cy="1673225"/>
            <a:chOff x="0" y="0"/>
            <a:chExt cx="2083482" cy="2230967"/>
          </a:xfrm>
        </p:grpSpPr>
        <p:grpSp>
          <p:nvGrpSpPr>
            <p:cNvPr id="7" name="Group 7"/>
            <p:cNvGrpSpPr/>
            <p:nvPr/>
          </p:nvGrpSpPr>
          <p:grpSpPr>
            <a:xfrm>
              <a:off x="75599" y="0"/>
              <a:ext cx="1932284" cy="2230967"/>
              <a:chOff x="0" y="0"/>
              <a:chExt cx="703982" cy="812800"/>
            </a:xfrm>
          </p:grpSpPr>
          <p:sp>
            <p:nvSpPr>
              <p:cNvPr id="8" name="Freeform 8"/>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id="9" name="TextBox 9"/>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b="1">
                  <a:solidFill>
                    <a:srgbClr val="000000"/>
                  </a:solidFill>
                  <a:latin typeface="Open Sans Bold"/>
                  <a:ea typeface="Open Sans Bold"/>
                  <a:cs typeface="Open Sans Bold"/>
                  <a:sym typeface="Open Sans Bold"/>
                </a:rPr>
                <a:t>9</a:t>
              </a:r>
            </a:p>
          </p:txBody>
        </p:sp>
      </p:grpSp>
      <p:sp>
        <p:nvSpPr>
          <p:cNvPr id="11" name="Freeform 11"/>
          <p:cNvSpPr/>
          <p:nvPr/>
        </p:nvSpPr>
        <p:spPr>
          <a:xfrm>
            <a:off x="14982801" y="5143500"/>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2" name="Freeform 12"/>
          <p:cNvSpPr/>
          <p:nvPr/>
        </p:nvSpPr>
        <p:spPr>
          <a:xfrm>
            <a:off x="55012" y="89674"/>
            <a:ext cx="1947377" cy="1493878"/>
          </a:xfrm>
          <a:custGeom>
            <a:avLst/>
            <a:gdLst/>
            <a:ahLst/>
            <a:cxnLst/>
            <a:rect l="l" t="t" r="r" b="b"/>
            <a:pathLst>
              <a:path w="1947377" h="1493878">
                <a:moveTo>
                  <a:pt x="0" y="0"/>
                </a:moveTo>
                <a:lnTo>
                  <a:pt x="1947376" y="0"/>
                </a:lnTo>
                <a:lnTo>
                  <a:pt x="1947376" y="1493878"/>
                </a:lnTo>
                <a:lnTo>
                  <a:pt x="0" y="1493878"/>
                </a:lnTo>
                <a:lnTo>
                  <a:pt x="0" y="0"/>
                </a:lnTo>
                <a:close/>
              </a:path>
            </a:pathLst>
          </a:custGeom>
          <a:blipFill>
            <a:blip r:embed="rId3"/>
            <a:stretch>
              <a:fillRect l="-15477" t="-31808" r="-11400" b="-23857"/>
            </a:stretch>
          </a:blipFill>
        </p:spPr>
      </p:sp>
      <p:sp>
        <p:nvSpPr>
          <p:cNvPr id="13" name="Freeform 13"/>
          <p:cNvSpPr/>
          <p:nvPr/>
        </p:nvSpPr>
        <p:spPr>
          <a:xfrm>
            <a:off x="233409" y="5549583"/>
            <a:ext cx="10467149" cy="3071892"/>
          </a:xfrm>
          <a:custGeom>
            <a:avLst/>
            <a:gdLst/>
            <a:ahLst/>
            <a:cxnLst/>
            <a:rect l="l" t="t" r="r" b="b"/>
            <a:pathLst>
              <a:path w="10467149" h="3071892">
                <a:moveTo>
                  <a:pt x="0" y="0"/>
                </a:moveTo>
                <a:lnTo>
                  <a:pt x="10467148" y="0"/>
                </a:lnTo>
                <a:lnTo>
                  <a:pt x="10467148" y="3071891"/>
                </a:lnTo>
                <a:lnTo>
                  <a:pt x="0" y="3071891"/>
                </a:lnTo>
                <a:lnTo>
                  <a:pt x="0" y="0"/>
                </a:lnTo>
                <a:close/>
              </a:path>
            </a:pathLst>
          </a:custGeom>
          <a:blipFill>
            <a:blip r:embed="rId4"/>
            <a:stretch>
              <a:fillRect l="-29291" t="-54963" r="-19712" b="-67795"/>
            </a:stretch>
          </a:blipFill>
        </p:spPr>
      </p:sp>
      <p:sp>
        <p:nvSpPr>
          <p:cNvPr id="14" name="Freeform 14"/>
          <p:cNvSpPr/>
          <p:nvPr/>
        </p:nvSpPr>
        <p:spPr>
          <a:xfrm>
            <a:off x="11064809" y="1965021"/>
            <a:ext cx="6356958" cy="6356958"/>
          </a:xfrm>
          <a:custGeom>
            <a:avLst/>
            <a:gdLst/>
            <a:ahLst/>
            <a:cxnLst/>
            <a:rect l="l" t="t" r="r" b="b"/>
            <a:pathLst>
              <a:path w="6356958" h="6356958">
                <a:moveTo>
                  <a:pt x="0" y="0"/>
                </a:moveTo>
                <a:lnTo>
                  <a:pt x="6356958" y="0"/>
                </a:lnTo>
                <a:lnTo>
                  <a:pt x="6356958" y="6356958"/>
                </a:lnTo>
                <a:lnTo>
                  <a:pt x="0" y="6356958"/>
                </a:lnTo>
                <a:lnTo>
                  <a:pt x="0" y="0"/>
                </a:lnTo>
                <a:close/>
              </a:path>
            </a:pathLst>
          </a:custGeom>
          <a:blipFill>
            <a:blip r:embed="rId5"/>
            <a:stretch>
              <a:fillRect/>
            </a:stretch>
          </a:blipFill>
        </p:spPr>
      </p:sp>
      <p:sp>
        <p:nvSpPr>
          <p:cNvPr id="15" name="TextBox 15"/>
          <p:cNvSpPr txBox="1"/>
          <p:nvPr/>
        </p:nvSpPr>
        <p:spPr>
          <a:xfrm>
            <a:off x="5954373" y="2496503"/>
            <a:ext cx="3246715" cy="2967355"/>
          </a:xfrm>
          <a:prstGeom prst="rect">
            <a:avLst/>
          </a:prstGeom>
        </p:spPr>
        <p:txBody>
          <a:bodyPr wrap="square" lIns="0" tIns="0" rIns="0" bIns="0" rtlCol="0" anchor="t">
            <a:spAutoFit/>
          </a:bodyPr>
          <a:lstStyle/>
          <a:p>
            <a:pPr algn="l">
              <a:lnSpc>
                <a:spcPts val="3920"/>
              </a:lnSpc>
              <a:spcBef>
                <a:spcPct val="0"/>
              </a:spcBef>
            </a:pPr>
            <a:r>
              <a:rPr lang="en-US" sz="2800" dirty="0">
                <a:solidFill>
                  <a:srgbClr val="000000"/>
                </a:solidFill>
                <a:latin typeface="Alatsi"/>
                <a:ea typeface="Alatsi"/>
                <a:cs typeface="Alatsi"/>
                <a:sym typeface="Alatsi"/>
              </a:rPr>
              <a:t>ACCURACY     : 0.9912 </a:t>
            </a:r>
          </a:p>
          <a:p>
            <a:pPr algn="l">
              <a:lnSpc>
                <a:spcPts val="3920"/>
              </a:lnSpc>
              <a:spcBef>
                <a:spcPct val="0"/>
              </a:spcBef>
            </a:pPr>
            <a:r>
              <a:rPr lang="en-US" sz="2800" dirty="0">
                <a:solidFill>
                  <a:srgbClr val="000000"/>
                </a:solidFill>
                <a:latin typeface="Alatsi"/>
                <a:ea typeface="Alatsi"/>
                <a:cs typeface="Alatsi"/>
                <a:sym typeface="Alatsi"/>
              </a:rPr>
              <a:t>PRECISION    : 0.9913</a:t>
            </a:r>
          </a:p>
          <a:p>
            <a:pPr algn="l">
              <a:lnSpc>
                <a:spcPts val="3920"/>
              </a:lnSpc>
              <a:spcBef>
                <a:spcPct val="0"/>
              </a:spcBef>
            </a:pPr>
            <a:r>
              <a:rPr lang="en-US" sz="2800" dirty="0">
                <a:solidFill>
                  <a:srgbClr val="000000"/>
                </a:solidFill>
                <a:latin typeface="Alatsi"/>
                <a:ea typeface="Alatsi"/>
                <a:cs typeface="Alatsi"/>
                <a:sym typeface="Alatsi"/>
              </a:rPr>
              <a:t>RECALL            : 0.9912</a:t>
            </a:r>
          </a:p>
          <a:p>
            <a:pPr algn="l">
              <a:lnSpc>
                <a:spcPts val="3920"/>
              </a:lnSpc>
              <a:spcBef>
                <a:spcPct val="0"/>
              </a:spcBef>
            </a:pPr>
            <a:r>
              <a:rPr lang="en-US" sz="2800" dirty="0">
                <a:solidFill>
                  <a:srgbClr val="000000"/>
                </a:solidFill>
                <a:latin typeface="Alatsi"/>
                <a:ea typeface="Alatsi"/>
                <a:cs typeface="Alatsi"/>
                <a:sym typeface="Alatsi"/>
              </a:rPr>
              <a:t>F1-SCORE       : 0.9912</a:t>
            </a:r>
          </a:p>
          <a:p>
            <a:pPr algn="l">
              <a:lnSpc>
                <a:spcPts val="3920"/>
              </a:lnSpc>
              <a:spcBef>
                <a:spcPct val="0"/>
              </a:spcBef>
            </a:pPr>
            <a:r>
              <a:rPr lang="en-US" sz="2800" dirty="0">
                <a:solidFill>
                  <a:srgbClr val="000000"/>
                </a:solidFill>
                <a:latin typeface="Alatsi"/>
                <a:ea typeface="Alatsi"/>
                <a:cs typeface="Alatsi"/>
                <a:sym typeface="Alatsi"/>
              </a:rPr>
              <a:t>SPECIFICITY  : 0.9995</a:t>
            </a:r>
          </a:p>
          <a:p>
            <a:pPr algn="l">
              <a:lnSpc>
                <a:spcPts val="3920"/>
              </a:lnSpc>
              <a:spcBef>
                <a:spcPct val="0"/>
              </a:spcBef>
            </a:pPr>
            <a:endParaRPr lang="en-US" sz="2800" dirty="0">
              <a:solidFill>
                <a:srgbClr val="000000"/>
              </a:solidFill>
              <a:latin typeface="Alatsi"/>
              <a:ea typeface="Alatsi"/>
              <a:cs typeface="Alatsi"/>
              <a:sym typeface="Alatsi"/>
            </a:endParaRPr>
          </a:p>
        </p:txBody>
      </p:sp>
      <p:sp>
        <p:nvSpPr>
          <p:cNvPr id="16" name="TextBox 16"/>
          <p:cNvSpPr txBox="1"/>
          <p:nvPr/>
        </p:nvSpPr>
        <p:spPr>
          <a:xfrm>
            <a:off x="5754360" y="1788478"/>
            <a:ext cx="3846840" cy="419346"/>
          </a:xfrm>
          <a:prstGeom prst="rect">
            <a:avLst/>
          </a:prstGeom>
        </p:spPr>
        <p:txBody>
          <a:bodyPr wrap="square" lIns="0" tIns="0" rIns="0" bIns="0" rtlCol="0" anchor="t">
            <a:spAutoFit/>
          </a:bodyPr>
          <a:lstStyle/>
          <a:p>
            <a:pPr algn="ctr">
              <a:lnSpc>
                <a:spcPts val="3499"/>
              </a:lnSpc>
            </a:pPr>
            <a:r>
              <a:rPr lang="en-US" sz="2499" dirty="0">
                <a:solidFill>
                  <a:srgbClr val="000000"/>
                </a:solidFill>
                <a:latin typeface="Canva Sans"/>
                <a:ea typeface="Canva Sans"/>
                <a:cs typeface="Canva Sans"/>
                <a:sym typeface="Canva Sans"/>
              </a:rPr>
              <a:t>Only </a:t>
            </a:r>
            <a:r>
              <a:rPr lang="en-US" sz="2499" dirty="0" err="1">
                <a:solidFill>
                  <a:srgbClr val="000000"/>
                </a:solidFill>
                <a:latin typeface="Canva Sans"/>
                <a:ea typeface="Canva Sans"/>
                <a:cs typeface="Canva Sans"/>
                <a:sym typeface="Canva Sans"/>
              </a:rPr>
              <a:t>PlantVillage,Wheat</a:t>
            </a:r>
            <a:endParaRPr lang="en-US" sz="2499" dirty="0">
              <a:solidFill>
                <a:srgbClr val="000000"/>
              </a:solidFill>
              <a:latin typeface="Canva Sans"/>
              <a:ea typeface="Canva Sans"/>
              <a:cs typeface="Canva Sans"/>
              <a:sym typeface="Canva Sans"/>
            </a:endParaRPr>
          </a:p>
        </p:txBody>
      </p:sp>
      <p:sp>
        <p:nvSpPr>
          <p:cNvPr id="17" name="TextBox 17"/>
          <p:cNvSpPr txBox="1"/>
          <p:nvPr/>
        </p:nvSpPr>
        <p:spPr>
          <a:xfrm>
            <a:off x="787382" y="2675003"/>
            <a:ext cx="3246715" cy="2967355"/>
          </a:xfrm>
          <a:prstGeom prst="rect">
            <a:avLst/>
          </a:prstGeom>
        </p:spPr>
        <p:txBody>
          <a:bodyPr lIns="0" tIns="0" rIns="0" bIns="0" rtlCol="0" anchor="t">
            <a:spAutoFit/>
          </a:bodyPr>
          <a:lstStyle/>
          <a:p>
            <a:pPr algn="l">
              <a:lnSpc>
                <a:spcPts val="3920"/>
              </a:lnSpc>
              <a:spcBef>
                <a:spcPct val="0"/>
              </a:spcBef>
            </a:pPr>
            <a:r>
              <a:rPr lang="en-US" sz="2800">
                <a:solidFill>
                  <a:srgbClr val="000000"/>
                </a:solidFill>
                <a:latin typeface="Alatsi"/>
                <a:ea typeface="Alatsi"/>
                <a:cs typeface="Alatsi"/>
                <a:sym typeface="Alatsi"/>
              </a:rPr>
              <a:t>ACCURACY     : 0.9706 </a:t>
            </a:r>
          </a:p>
          <a:p>
            <a:pPr algn="l">
              <a:lnSpc>
                <a:spcPts val="3920"/>
              </a:lnSpc>
              <a:spcBef>
                <a:spcPct val="0"/>
              </a:spcBef>
            </a:pPr>
            <a:r>
              <a:rPr lang="en-US" sz="2800">
                <a:solidFill>
                  <a:srgbClr val="000000"/>
                </a:solidFill>
                <a:latin typeface="Alatsi"/>
                <a:ea typeface="Alatsi"/>
                <a:cs typeface="Alatsi"/>
                <a:sym typeface="Alatsi"/>
              </a:rPr>
              <a:t>PRECISION    : 0.9707</a:t>
            </a:r>
          </a:p>
          <a:p>
            <a:pPr algn="l">
              <a:lnSpc>
                <a:spcPts val="3920"/>
              </a:lnSpc>
              <a:spcBef>
                <a:spcPct val="0"/>
              </a:spcBef>
            </a:pPr>
            <a:r>
              <a:rPr lang="en-US" sz="2800">
                <a:solidFill>
                  <a:srgbClr val="000000"/>
                </a:solidFill>
                <a:latin typeface="Alatsi"/>
                <a:ea typeface="Alatsi"/>
                <a:cs typeface="Alatsi"/>
                <a:sym typeface="Alatsi"/>
              </a:rPr>
              <a:t>RECALL            : 0.9706</a:t>
            </a:r>
          </a:p>
          <a:p>
            <a:pPr algn="l">
              <a:lnSpc>
                <a:spcPts val="3920"/>
              </a:lnSpc>
              <a:spcBef>
                <a:spcPct val="0"/>
              </a:spcBef>
            </a:pPr>
            <a:r>
              <a:rPr lang="en-US" sz="2800">
                <a:solidFill>
                  <a:srgbClr val="000000"/>
                </a:solidFill>
                <a:latin typeface="Alatsi"/>
                <a:ea typeface="Alatsi"/>
                <a:cs typeface="Alatsi"/>
                <a:sym typeface="Alatsi"/>
              </a:rPr>
              <a:t>F1-SCORE       : 0.9706</a:t>
            </a:r>
          </a:p>
          <a:p>
            <a:pPr algn="l">
              <a:lnSpc>
                <a:spcPts val="3920"/>
              </a:lnSpc>
              <a:spcBef>
                <a:spcPct val="0"/>
              </a:spcBef>
            </a:pPr>
            <a:r>
              <a:rPr lang="en-US" sz="2800">
                <a:solidFill>
                  <a:srgbClr val="000000"/>
                </a:solidFill>
                <a:latin typeface="Alatsi"/>
                <a:ea typeface="Alatsi"/>
                <a:cs typeface="Alatsi"/>
                <a:sym typeface="Alatsi"/>
              </a:rPr>
              <a:t>SPECIFICITY  : 0.9987</a:t>
            </a:r>
          </a:p>
          <a:p>
            <a:pPr algn="l">
              <a:lnSpc>
                <a:spcPts val="3920"/>
              </a:lnSpc>
              <a:spcBef>
                <a:spcPct val="0"/>
              </a:spcBef>
            </a:pPr>
            <a:endParaRPr lang="en-US" sz="2800">
              <a:solidFill>
                <a:srgbClr val="000000"/>
              </a:solidFill>
              <a:latin typeface="Alatsi"/>
              <a:ea typeface="Alatsi"/>
              <a:cs typeface="Alatsi"/>
              <a:sym typeface="Alatsi"/>
            </a:endParaRPr>
          </a:p>
        </p:txBody>
      </p:sp>
      <p:sp>
        <p:nvSpPr>
          <p:cNvPr id="18" name="TextBox 18"/>
          <p:cNvSpPr txBox="1"/>
          <p:nvPr/>
        </p:nvSpPr>
        <p:spPr>
          <a:xfrm>
            <a:off x="454219" y="1616075"/>
            <a:ext cx="3096339" cy="869949"/>
          </a:xfrm>
          <a:prstGeom prst="rect">
            <a:avLst/>
          </a:prstGeom>
        </p:spPr>
        <p:txBody>
          <a:bodyPr lIns="0" tIns="0" rIns="0" bIns="0" rtlCol="0" anchor="t">
            <a:spAutoFit/>
          </a:bodyPr>
          <a:lstStyle/>
          <a:p>
            <a:pPr algn="ctr">
              <a:lnSpc>
                <a:spcPts val="3500"/>
              </a:lnSpc>
            </a:pPr>
            <a:r>
              <a:rPr lang="en-US" sz="2500">
                <a:solidFill>
                  <a:srgbClr val="000000"/>
                </a:solidFill>
                <a:latin typeface="Canva Sans"/>
                <a:ea typeface="Canva Sans"/>
                <a:cs typeface="Canva Sans"/>
                <a:sym typeface="Canva Sans"/>
              </a:rPr>
              <a:t> Flip+Brightness Aug</a:t>
            </a:r>
          </a:p>
          <a:p>
            <a:pPr algn="ctr">
              <a:lnSpc>
                <a:spcPts val="3500"/>
              </a:lnSpc>
            </a:pPr>
            <a:r>
              <a:rPr lang="en-US" sz="2500">
                <a:solidFill>
                  <a:srgbClr val="000000"/>
                </a:solidFill>
                <a:latin typeface="Canva Sans"/>
                <a:ea typeface="Canva Sans"/>
                <a:cs typeface="Canva Sans"/>
                <a:sym typeface="Canva Sans"/>
              </a:rPr>
              <a:t>All Datasets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2129180" y="-137302"/>
            <a:ext cx="15815306" cy="1450976"/>
          </a:xfrm>
          <a:prstGeom prst="rect">
            <a:avLst/>
          </a:prstGeom>
        </p:spPr>
        <p:txBody>
          <a:bodyPr lIns="0" tIns="0" rIns="0" bIns="0" rtlCol="0" anchor="t">
            <a:spAutoFit/>
          </a:bodyPr>
          <a:lstStyle/>
          <a:p>
            <a:pPr algn="ctr">
              <a:lnSpc>
                <a:spcPts val="11899"/>
              </a:lnSpc>
            </a:pPr>
            <a:r>
              <a:rPr lang="en-US" sz="8499">
                <a:solidFill>
                  <a:srgbClr val="000000"/>
                </a:solidFill>
                <a:latin typeface="Alatsi"/>
                <a:ea typeface="Alatsi"/>
                <a:cs typeface="Alatsi"/>
                <a:sym typeface="Alatsi"/>
              </a:rPr>
              <a:t>RESULTS</a:t>
            </a:r>
          </a:p>
        </p:txBody>
      </p:sp>
      <p:grpSp>
        <p:nvGrpSpPr>
          <p:cNvPr id="3" name="Group 3"/>
          <p:cNvGrpSpPr/>
          <p:nvPr/>
        </p:nvGrpSpPr>
        <p:grpSpPr>
          <a:xfrm>
            <a:off x="15859155" y="0"/>
            <a:ext cx="1562612" cy="1673225"/>
            <a:chOff x="0" y="0"/>
            <a:chExt cx="2083482" cy="2230967"/>
          </a:xfrm>
        </p:grpSpPr>
        <p:grpSp>
          <p:nvGrpSpPr>
            <p:cNvPr id="4" name="Group 4"/>
            <p:cNvGrpSpPr/>
            <p:nvPr/>
          </p:nvGrpSpPr>
          <p:grpSpPr>
            <a:xfrm>
              <a:off x="75599" y="0"/>
              <a:ext cx="1932284" cy="2230967"/>
              <a:chOff x="0" y="0"/>
              <a:chExt cx="703982" cy="812800"/>
            </a:xfrm>
          </p:grpSpPr>
          <p:sp>
            <p:nvSpPr>
              <p:cNvPr id="5" name="Freeform 5"/>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id="6" name="TextBox 6"/>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7" name="TextBox 7"/>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b="1">
                  <a:solidFill>
                    <a:srgbClr val="000000"/>
                  </a:solidFill>
                  <a:latin typeface="Open Sans Bold"/>
                  <a:ea typeface="Open Sans Bold"/>
                  <a:cs typeface="Open Sans Bold"/>
                  <a:sym typeface="Open Sans Bold"/>
                </a:rPr>
                <a:t>10</a:t>
              </a:r>
            </a:p>
          </p:txBody>
        </p:sp>
      </p:grpSp>
      <p:sp>
        <p:nvSpPr>
          <p:cNvPr id="8" name="Freeform 8"/>
          <p:cNvSpPr/>
          <p:nvPr/>
        </p:nvSpPr>
        <p:spPr>
          <a:xfrm>
            <a:off x="14982801" y="5143500"/>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p:cNvSpPr/>
          <p:nvPr/>
        </p:nvSpPr>
        <p:spPr>
          <a:xfrm>
            <a:off x="799376" y="669148"/>
            <a:ext cx="6625922" cy="4306887"/>
          </a:xfrm>
          <a:custGeom>
            <a:avLst/>
            <a:gdLst/>
            <a:ahLst/>
            <a:cxnLst/>
            <a:rect l="l" t="t" r="r" b="b"/>
            <a:pathLst>
              <a:path w="6625922" h="4306887">
                <a:moveTo>
                  <a:pt x="0" y="0"/>
                </a:moveTo>
                <a:lnTo>
                  <a:pt x="6625922" y="0"/>
                </a:lnTo>
                <a:lnTo>
                  <a:pt x="6625922" y="4306888"/>
                </a:lnTo>
                <a:lnTo>
                  <a:pt x="0" y="4306888"/>
                </a:lnTo>
                <a:lnTo>
                  <a:pt x="0" y="0"/>
                </a:lnTo>
                <a:close/>
              </a:path>
            </a:pathLst>
          </a:custGeom>
          <a:blipFill>
            <a:blip r:embed="rId3"/>
            <a:stretch>
              <a:fillRect t="-13233" r="-195525"/>
            </a:stretch>
          </a:blipFill>
        </p:spPr>
      </p:sp>
      <p:sp>
        <p:nvSpPr>
          <p:cNvPr id="10" name="Freeform 10"/>
          <p:cNvSpPr/>
          <p:nvPr/>
        </p:nvSpPr>
        <p:spPr>
          <a:xfrm>
            <a:off x="8140687" y="1673225"/>
            <a:ext cx="8702164" cy="7767624"/>
          </a:xfrm>
          <a:custGeom>
            <a:avLst/>
            <a:gdLst/>
            <a:ahLst/>
            <a:cxnLst/>
            <a:rect l="l" t="t" r="r" b="b"/>
            <a:pathLst>
              <a:path w="8702164" h="7767624">
                <a:moveTo>
                  <a:pt x="0" y="0"/>
                </a:moveTo>
                <a:lnTo>
                  <a:pt x="8702165" y="0"/>
                </a:lnTo>
                <a:lnTo>
                  <a:pt x="8702165" y="7767625"/>
                </a:lnTo>
                <a:lnTo>
                  <a:pt x="0" y="7767625"/>
                </a:lnTo>
                <a:lnTo>
                  <a:pt x="0" y="0"/>
                </a:lnTo>
                <a:close/>
              </a:path>
            </a:pathLst>
          </a:custGeom>
          <a:blipFill>
            <a:blip r:embed="rId4"/>
            <a:stretch>
              <a:fillRect l="-323" t="-3639" r="-98500"/>
            </a:stretch>
          </a:blipFill>
        </p:spPr>
      </p:sp>
      <p:sp>
        <p:nvSpPr>
          <p:cNvPr id="11" name="Freeform 11"/>
          <p:cNvSpPr/>
          <p:nvPr/>
        </p:nvSpPr>
        <p:spPr>
          <a:xfrm>
            <a:off x="692967" y="5263415"/>
            <a:ext cx="6838741" cy="4715736"/>
          </a:xfrm>
          <a:custGeom>
            <a:avLst/>
            <a:gdLst/>
            <a:ahLst/>
            <a:cxnLst/>
            <a:rect l="l" t="t" r="r" b="b"/>
            <a:pathLst>
              <a:path w="6838741" h="4715736">
                <a:moveTo>
                  <a:pt x="0" y="0"/>
                </a:moveTo>
                <a:lnTo>
                  <a:pt x="6838741" y="0"/>
                </a:lnTo>
                <a:lnTo>
                  <a:pt x="6838741" y="4715737"/>
                </a:lnTo>
                <a:lnTo>
                  <a:pt x="0" y="4715737"/>
                </a:lnTo>
                <a:lnTo>
                  <a:pt x="0" y="0"/>
                </a:lnTo>
                <a:close/>
              </a:path>
            </a:pathLst>
          </a:custGeom>
          <a:blipFill>
            <a:blip r:embed="rId3"/>
            <a:stretch>
              <a:fillRect l="-104096" t="-11630" r="-104973"/>
            </a:stretch>
          </a:blipFill>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5702946" y="8800282"/>
            <a:ext cx="6882108" cy="464820"/>
          </a:xfrm>
          <a:prstGeom prst="rect">
            <a:avLst/>
          </a:prstGeom>
        </p:spPr>
        <p:txBody>
          <a:bodyPr lIns="0" tIns="0" rIns="0" bIns="0" rtlCol="0" anchor="t">
            <a:spAutoFit/>
          </a:bodyPr>
          <a:lstStyle/>
          <a:p>
            <a:pPr algn="ctr">
              <a:lnSpc>
                <a:spcPts val="3779"/>
              </a:lnSpc>
            </a:pPr>
            <a:r>
              <a:rPr lang="en-US" sz="2700">
                <a:solidFill>
                  <a:srgbClr val="000000"/>
                </a:solidFill>
                <a:latin typeface="Alatsi"/>
                <a:ea typeface="Alatsi"/>
                <a:cs typeface="Alatsi"/>
                <a:sym typeface="Alatsi"/>
              </a:rPr>
              <a:t>IIIT Pune | 2026</a:t>
            </a:r>
          </a:p>
        </p:txBody>
      </p:sp>
      <p:sp>
        <p:nvSpPr>
          <p:cNvPr id="3" name="AutoShape 3"/>
          <p:cNvSpPr/>
          <p:nvPr/>
        </p:nvSpPr>
        <p:spPr>
          <a:xfrm>
            <a:off x="-260599" y="9061267"/>
            <a:ext cx="7105264" cy="19050"/>
          </a:xfrm>
          <a:prstGeom prst="line">
            <a:avLst/>
          </a:prstGeom>
          <a:ln w="114300" cap="flat">
            <a:solidFill>
              <a:srgbClr val="9FC3D0"/>
            </a:solidFill>
            <a:prstDash val="solid"/>
            <a:headEnd type="none" w="sm" len="sm"/>
            <a:tailEnd type="none" w="sm" len="sm"/>
          </a:ln>
        </p:spPr>
      </p:sp>
      <p:sp>
        <p:nvSpPr>
          <p:cNvPr id="4" name="AutoShape 4"/>
          <p:cNvSpPr/>
          <p:nvPr/>
        </p:nvSpPr>
        <p:spPr>
          <a:xfrm>
            <a:off x="11430169" y="9061267"/>
            <a:ext cx="7105264" cy="19050"/>
          </a:xfrm>
          <a:prstGeom prst="line">
            <a:avLst/>
          </a:prstGeom>
          <a:ln w="114300" cap="flat">
            <a:solidFill>
              <a:srgbClr val="9FC3D0"/>
            </a:solidFill>
            <a:prstDash val="solid"/>
            <a:headEnd type="none" w="sm" len="sm"/>
            <a:tailEnd type="none" w="sm" len="sm"/>
          </a:ln>
        </p:spPr>
      </p:sp>
      <p:sp>
        <p:nvSpPr>
          <p:cNvPr id="5" name="Freeform 5"/>
          <p:cNvSpPr/>
          <p:nvPr/>
        </p:nvSpPr>
        <p:spPr>
          <a:xfrm>
            <a:off x="12982861" y="5945563"/>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6" name="Group 6"/>
          <p:cNvGrpSpPr/>
          <p:nvPr/>
        </p:nvGrpSpPr>
        <p:grpSpPr>
          <a:xfrm>
            <a:off x="15859155" y="0"/>
            <a:ext cx="1562612" cy="1673225"/>
            <a:chOff x="0" y="0"/>
            <a:chExt cx="2083482" cy="2230967"/>
          </a:xfrm>
        </p:grpSpPr>
        <p:grpSp>
          <p:nvGrpSpPr>
            <p:cNvPr id="7" name="Group 7"/>
            <p:cNvGrpSpPr/>
            <p:nvPr/>
          </p:nvGrpSpPr>
          <p:grpSpPr>
            <a:xfrm>
              <a:off x="75599" y="0"/>
              <a:ext cx="1932284" cy="2230967"/>
              <a:chOff x="0" y="0"/>
              <a:chExt cx="703982" cy="812800"/>
            </a:xfrm>
          </p:grpSpPr>
          <p:sp>
            <p:nvSpPr>
              <p:cNvPr id="8" name="Freeform 8"/>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id="9" name="TextBox 9"/>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b="1">
                  <a:solidFill>
                    <a:srgbClr val="000000"/>
                  </a:solidFill>
                  <a:latin typeface="Open Sans Bold"/>
                  <a:ea typeface="Open Sans Bold"/>
                  <a:cs typeface="Open Sans Bold"/>
                  <a:sym typeface="Open Sans Bold"/>
                </a:rPr>
                <a:t>11</a:t>
              </a:r>
            </a:p>
          </p:txBody>
        </p:sp>
      </p:grpSp>
      <p:sp>
        <p:nvSpPr>
          <p:cNvPr id="11" name="TextBox 11"/>
          <p:cNvSpPr txBox="1"/>
          <p:nvPr/>
        </p:nvSpPr>
        <p:spPr>
          <a:xfrm>
            <a:off x="3679044" y="866775"/>
            <a:ext cx="10929913" cy="1450976"/>
          </a:xfrm>
          <a:prstGeom prst="rect">
            <a:avLst/>
          </a:prstGeom>
        </p:spPr>
        <p:txBody>
          <a:bodyPr lIns="0" tIns="0" rIns="0" bIns="0" rtlCol="0" anchor="t">
            <a:spAutoFit/>
          </a:bodyPr>
          <a:lstStyle/>
          <a:p>
            <a:pPr algn="ctr">
              <a:lnSpc>
                <a:spcPts val="11899"/>
              </a:lnSpc>
            </a:pPr>
            <a:r>
              <a:rPr lang="en-US" sz="8499">
                <a:solidFill>
                  <a:srgbClr val="000000"/>
                </a:solidFill>
                <a:latin typeface="Alatsi"/>
                <a:ea typeface="Alatsi"/>
                <a:cs typeface="Alatsi"/>
                <a:sym typeface="Alatsi"/>
              </a:rPr>
              <a:t>FUTURE SCOPE</a:t>
            </a:r>
          </a:p>
        </p:txBody>
      </p:sp>
      <p:sp>
        <p:nvSpPr>
          <p:cNvPr id="12" name="Freeform 12"/>
          <p:cNvSpPr/>
          <p:nvPr/>
        </p:nvSpPr>
        <p:spPr>
          <a:xfrm>
            <a:off x="55012" y="89674"/>
            <a:ext cx="1947377" cy="1493878"/>
          </a:xfrm>
          <a:custGeom>
            <a:avLst/>
            <a:gdLst/>
            <a:ahLst/>
            <a:cxnLst/>
            <a:rect l="l" t="t" r="r" b="b"/>
            <a:pathLst>
              <a:path w="1947377" h="1493878">
                <a:moveTo>
                  <a:pt x="0" y="0"/>
                </a:moveTo>
                <a:lnTo>
                  <a:pt x="1947376" y="0"/>
                </a:lnTo>
                <a:lnTo>
                  <a:pt x="1947376" y="1493878"/>
                </a:lnTo>
                <a:lnTo>
                  <a:pt x="0" y="1493878"/>
                </a:lnTo>
                <a:lnTo>
                  <a:pt x="0" y="0"/>
                </a:lnTo>
                <a:close/>
              </a:path>
            </a:pathLst>
          </a:custGeom>
          <a:blipFill>
            <a:blip r:embed="rId3"/>
            <a:stretch>
              <a:fillRect l="-15477" t="-31808" r="-11400" b="-23857"/>
            </a:stretch>
          </a:blipFill>
        </p:spPr>
      </p:sp>
      <p:grpSp>
        <p:nvGrpSpPr>
          <p:cNvPr id="13" name="Group 13"/>
          <p:cNvGrpSpPr/>
          <p:nvPr/>
        </p:nvGrpSpPr>
        <p:grpSpPr>
          <a:xfrm>
            <a:off x="969897" y="2901778"/>
            <a:ext cx="4732568" cy="4282676"/>
            <a:chOff x="0" y="0"/>
            <a:chExt cx="1246438" cy="1127948"/>
          </a:xfrm>
        </p:grpSpPr>
        <p:sp>
          <p:nvSpPr>
            <p:cNvPr id="14" name="Freeform 14"/>
            <p:cNvSpPr/>
            <p:nvPr/>
          </p:nvSpPr>
          <p:spPr>
            <a:xfrm>
              <a:off x="0" y="0"/>
              <a:ext cx="1246438" cy="1127948"/>
            </a:xfrm>
            <a:custGeom>
              <a:avLst/>
              <a:gdLst/>
              <a:ahLst/>
              <a:cxnLst/>
              <a:rect l="l" t="t" r="r" b="b"/>
              <a:pathLst>
                <a:path w="1246438" h="1127948">
                  <a:moveTo>
                    <a:pt x="83430" y="0"/>
                  </a:moveTo>
                  <a:lnTo>
                    <a:pt x="1163008" y="0"/>
                  </a:lnTo>
                  <a:cubicBezTo>
                    <a:pt x="1185135" y="0"/>
                    <a:pt x="1206355" y="8790"/>
                    <a:pt x="1222002" y="24436"/>
                  </a:cubicBezTo>
                  <a:cubicBezTo>
                    <a:pt x="1237648" y="40082"/>
                    <a:pt x="1246438" y="61303"/>
                    <a:pt x="1246438" y="83430"/>
                  </a:cubicBezTo>
                  <a:lnTo>
                    <a:pt x="1246438" y="1044518"/>
                  </a:lnTo>
                  <a:cubicBezTo>
                    <a:pt x="1246438" y="1090595"/>
                    <a:pt x="1209085" y="1127948"/>
                    <a:pt x="1163008" y="1127948"/>
                  </a:cubicBezTo>
                  <a:lnTo>
                    <a:pt x="83430" y="1127948"/>
                  </a:lnTo>
                  <a:cubicBezTo>
                    <a:pt x="37353" y="1127948"/>
                    <a:pt x="0" y="1090595"/>
                    <a:pt x="0" y="1044518"/>
                  </a:cubicBezTo>
                  <a:lnTo>
                    <a:pt x="0" y="83430"/>
                  </a:lnTo>
                  <a:cubicBezTo>
                    <a:pt x="0" y="37353"/>
                    <a:pt x="37353" y="0"/>
                    <a:pt x="83430" y="0"/>
                  </a:cubicBezTo>
                  <a:close/>
                </a:path>
              </a:pathLst>
            </a:custGeom>
            <a:solidFill>
              <a:srgbClr val="E9C7C6"/>
            </a:solidFill>
          </p:spPr>
        </p:sp>
        <p:sp>
          <p:nvSpPr>
            <p:cNvPr id="15" name="TextBox 15"/>
            <p:cNvSpPr txBox="1"/>
            <p:nvPr/>
          </p:nvSpPr>
          <p:spPr>
            <a:xfrm>
              <a:off x="0" y="-57150"/>
              <a:ext cx="1246438" cy="1185098"/>
            </a:xfrm>
            <a:prstGeom prst="rect">
              <a:avLst/>
            </a:prstGeom>
          </p:spPr>
          <p:txBody>
            <a:bodyPr lIns="50800" tIns="50800" rIns="50800" bIns="50800" rtlCol="0" anchor="ctr"/>
            <a:lstStyle/>
            <a:p>
              <a:pPr algn="ctr">
                <a:lnSpc>
                  <a:spcPts val="3639"/>
                </a:lnSpc>
              </a:pPr>
              <a:r>
                <a:rPr lang="en-US" sz="2599">
                  <a:solidFill>
                    <a:srgbClr val="000000"/>
                  </a:solidFill>
                  <a:latin typeface="Alatsi"/>
                  <a:ea typeface="Alatsi"/>
                  <a:cs typeface="Alatsi"/>
                  <a:sym typeface="Alatsi"/>
                </a:rPr>
                <a:t>Future work can focus on advanced regularization and data augmentation techniques to enhance generalization across unseen data while maintaining optimal parameters ,fast inference time</a:t>
              </a:r>
            </a:p>
            <a:p>
              <a:pPr algn="ctr">
                <a:lnSpc>
                  <a:spcPts val="3639"/>
                </a:lnSpc>
              </a:pPr>
              <a:endParaRPr lang="en-US" sz="2599">
                <a:solidFill>
                  <a:srgbClr val="000000"/>
                </a:solidFill>
                <a:latin typeface="Alatsi"/>
                <a:ea typeface="Alatsi"/>
                <a:cs typeface="Alatsi"/>
                <a:sym typeface="Alatsi"/>
              </a:endParaRPr>
            </a:p>
          </p:txBody>
        </p:sp>
      </p:grpSp>
      <p:grpSp>
        <p:nvGrpSpPr>
          <p:cNvPr id="16" name="Group 16"/>
          <p:cNvGrpSpPr/>
          <p:nvPr/>
        </p:nvGrpSpPr>
        <p:grpSpPr>
          <a:xfrm>
            <a:off x="6543518" y="2948292"/>
            <a:ext cx="4886651" cy="4189648"/>
            <a:chOff x="0" y="0"/>
            <a:chExt cx="1287019" cy="1103446"/>
          </a:xfrm>
        </p:grpSpPr>
        <p:sp>
          <p:nvSpPr>
            <p:cNvPr id="17" name="Freeform 17"/>
            <p:cNvSpPr/>
            <p:nvPr/>
          </p:nvSpPr>
          <p:spPr>
            <a:xfrm>
              <a:off x="0" y="0"/>
              <a:ext cx="1287019" cy="1103446"/>
            </a:xfrm>
            <a:custGeom>
              <a:avLst/>
              <a:gdLst/>
              <a:ahLst/>
              <a:cxnLst/>
              <a:rect l="l" t="t" r="r" b="b"/>
              <a:pathLst>
                <a:path w="1287019" h="1103446">
                  <a:moveTo>
                    <a:pt x="80799" y="0"/>
                  </a:moveTo>
                  <a:lnTo>
                    <a:pt x="1206220" y="0"/>
                  </a:lnTo>
                  <a:cubicBezTo>
                    <a:pt x="1227649" y="0"/>
                    <a:pt x="1248201" y="8513"/>
                    <a:pt x="1263354" y="23666"/>
                  </a:cubicBezTo>
                  <a:cubicBezTo>
                    <a:pt x="1278506" y="38818"/>
                    <a:pt x="1287019" y="59370"/>
                    <a:pt x="1287019" y="80799"/>
                  </a:cubicBezTo>
                  <a:lnTo>
                    <a:pt x="1287019" y="1022647"/>
                  </a:lnTo>
                  <a:cubicBezTo>
                    <a:pt x="1287019" y="1044076"/>
                    <a:pt x="1278506" y="1064628"/>
                    <a:pt x="1263354" y="1079781"/>
                  </a:cubicBezTo>
                  <a:cubicBezTo>
                    <a:pt x="1248201" y="1094934"/>
                    <a:pt x="1227649" y="1103446"/>
                    <a:pt x="1206220" y="1103446"/>
                  </a:cubicBezTo>
                  <a:lnTo>
                    <a:pt x="80799" y="1103446"/>
                  </a:lnTo>
                  <a:cubicBezTo>
                    <a:pt x="59370" y="1103446"/>
                    <a:pt x="38818" y="1094934"/>
                    <a:pt x="23666" y="1079781"/>
                  </a:cubicBezTo>
                  <a:cubicBezTo>
                    <a:pt x="8513" y="1064628"/>
                    <a:pt x="0" y="1044076"/>
                    <a:pt x="0" y="1022647"/>
                  </a:cubicBezTo>
                  <a:lnTo>
                    <a:pt x="0" y="80799"/>
                  </a:lnTo>
                  <a:cubicBezTo>
                    <a:pt x="0" y="59370"/>
                    <a:pt x="8513" y="38818"/>
                    <a:pt x="23666" y="23666"/>
                  </a:cubicBezTo>
                  <a:cubicBezTo>
                    <a:pt x="38818" y="8513"/>
                    <a:pt x="59370" y="0"/>
                    <a:pt x="80799" y="0"/>
                  </a:cubicBezTo>
                  <a:close/>
                </a:path>
              </a:pathLst>
            </a:custGeom>
            <a:solidFill>
              <a:srgbClr val="E9C7C6"/>
            </a:solidFill>
          </p:spPr>
        </p:sp>
        <p:sp>
          <p:nvSpPr>
            <p:cNvPr id="18" name="TextBox 18"/>
            <p:cNvSpPr txBox="1"/>
            <p:nvPr/>
          </p:nvSpPr>
          <p:spPr>
            <a:xfrm>
              <a:off x="0" y="-47625"/>
              <a:ext cx="1287019" cy="1151071"/>
            </a:xfrm>
            <a:prstGeom prst="rect">
              <a:avLst/>
            </a:prstGeom>
          </p:spPr>
          <p:txBody>
            <a:bodyPr lIns="50800" tIns="50800" rIns="50800" bIns="50800" rtlCol="0" anchor="ctr"/>
            <a:lstStyle/>
            <a:p>
              <a:pPr algn="ctr">
                <a:lnSpc>
                  <a:spcPts val="3640"/>
                </a:lnSpc>
              </a:pPr>
              <a:r>
                <a:rPr lang="en-US" sz="2600">
                  <a:solidFill>
                    <a:srgbClr val="000000"/>
                  </a:solidFill>
                  <a:latin typeface="Alatsi"/>
                  <a:ea typeface="Alatsi"/>
                  <a:cs typeface="Alatsi"/>
                  <a:sym typeface="Alatsi"/>
                </a:rPr>
                <a:t>The model can be integrated with IoT-based monitoring systems, drones, or automated irrigation systems to enable early disease detection and decision support for precision farming.</a:t>
              </a:r>
            </a:p>
            <a:p>
              <a:pPr algn="ctr">
                <a:lnSpc>
                  <a:spcPts val="3640"/>
                </a:lnSpc>
              </a:pPr>
              <a:endParaRPr lang="en-US" sz="2600">
                <a:solidFill>
                  <a:srgbClr val="000000"/>
                </a:solidFill>
                <a:latin typeface="Alatsi"/>
                <a:ea typeface="Alatsi"/>
                <a:cs typeface="Alatsi"/>
                <a:sym typeface="Alatsi"/>
              </a:endParaRPr>
            </a:p>
          </p:txBody>
        </p:sp>
      </p:grpSp>
      <p:grpSp>
        <p:nvGrpSpPr>
          <p:cNvPr id="19" name="Group 19"/>
          <p:cNvGrpSpPr/>
          <p:nvPr/>
        </p:nvGrpSpPr>
        <p:grpSpPr>
          <a:xfrm>
            <a:off x="12268369" y="2901778"/>
            <a:ext cx="4886651" cy="4189648"/>
            <a:chOff x="0" y="0"/>
            <a:chExt cx="1287019" cy="1103446"/>
          </a:xfrm>
        </p:grpSpPr>
        <p:sp>
          <p:nvSpPr>
            <p:cNvPr id="20" name="Freeform 20"/>
            <p:cNvSpPr/>
            <p:nvPr/>
          </p:nvSpPr>
          <p:spPr>
            <a:xfrm>
              <a:off x="0" y="0"/>
              <a:ext cx="1287019" cy="1103446"/>
            </a:xfrm>
            <a:custGeom>
              <a:avLst/>
              <a:gdLst/>
              <a:ahLst/>
              <a:cxnLst/>
              <a:rect l="l" t="t" r="r" b="b"/>
              <a:pathLst>
                <a:path w="1287019" h="1103446">
                  <a:moveTo>
                    <a:pt x="80799" y="0"/>
                  </a:moveTo>
                  <a:lnTo>
                    <a:pt x="1206220" y="0"/>
                  </a:lnTo>
                  <a:cubicBezTo>
                    <a:pt x="1227649" y="0"/>
                    <a:pt x="1248201" y="8513"/>
                    <a:pt x="1263354" y="23666"/>
                  </a:cubicBezTo>
                  <a:cubicBezTo>
                    <a:pt x="1278506" y="38818"/>
                    <a:pt x="1287019" y="59370"/>
                    <a:pt x="1287019" y="80799"/>
                  </a:cubicBezTo>
                  <a:lnTo>
                    <a:pt x="1287019" y="1022647"/>
                  </a:lnTo>
                  <a:cubicBezTo>
                    <a:pt x="1287019" y="1044076"/>
                    <a:pt x="1278506" y="1064628"/>
                    <a:pt x="1263354" y="1079781"/>
                  </a:cubicBezTo>
                  <a:cubicBezTo>
                    <a:pt x="1248201" y="1094934"/>
                    <a:pt x="1227649" y="1103446"/>
                    <a:pt x="1206220" y="1103446"/>
                  </a:cubicBezTo>
                  <a:lnTo>
                    <a:pt x="80799" y="1103446"/>
                  </a:lnTo>
                  <a:cubicBezTo>
                    <a:pt x="59370" y="1103446"/>
                    <a:pt x="38818" y="1094934"/>
                    <a:pt x="23666" y="1079781"/>
                  </a:cubicBezTo>
                  <a:cubicBezTo>
                    <a:pt x="8513" y="1064628"/>
                    <a:pt x="0" y="1044076"/>
                    <a:pt x="0" y="1022647"/>
                  </a:cubicBezTo>
                  <a:lnTo>
                    <a:pt x="0" y="80799"/>
                  </a:lnTo>
                  <a:cubicBezTo>
                    <a:pt x="0" y="59370"/>
                    <a:pt x="8513" y="38818"/>
                    <a:pt x="23666" y="23666"/>
                  </a:cubicBezTo>
                  <a:cubicBezTo>
                    <a:pt x="38818" y="8513"/>
                    <a:pt x="59370" y="0"/>
                    <a:pt x="80799" y="0"/>
                  </a:cubicBezTo>
                  <a:close/>
                </a:path>
              </a:pathLst>
            </a:custGeom>
            <a:solidFill>
              <a:srgbClr val="E9C7C6"/>
            </a:solidFill>
          </p:spPr>
        </p:sp>
        <p:sp>
          <p:nvSpPr>
            <p:cNvPr id="21" name="TextBox 21"/>
            <p:cNvSpPr txBox="1"/>
            <p:nvPr/>
          </p:nvSpPr>
          <p:spPr>
            <a:xfrm>
              <a:off x="0" y="-47625"/>
              <a:ext cx="1287019" cy="1151071"/>
            </a:xfrm>
            <a:prstGeom prst="rect">
              <a:avLst/>
            </a:prstGeom>
          </p:spPr>
          <p:txBody>
            <a:bodyPr lIns="50800" tIns="50800" rIns="50800" bIns="50800" rtlCol="0" anchor="ctr"/>
            <a:lstStyle/>
            <a:p>
              <a:pPr algn="ctr">
                <a:lnSpc>
                  <a:spcPts val="3640"/>
                </a:lnSpc>
              </a:pPr>
              <a:r>
                <a:rPr lang="en-US" sz="2600">
                  <a:solidFill>
                    <a:srgbClr val="000000"/>
                  </a:solidFill>
                  <a:latin typeface="Alatsi"/>
                  <a:ea typeface="Alatsi"/>
                  <a:cs typeface="Alatsi"/>
                  <a:sym typeface="Alatsi"/>
                </a:rPr>
                <a:t>Expanding the model to handle multiple crops and real-field conditions will improve robustness and make it more practical for real-world agricultural applications.</a:t>
              </a:r>
            </a:p>
            <a:p>
              <a:pPr algn="ctr">
                <a:lnSpc>
                  <a:spcPts val="3640"/>
                </a:lnSpc>
              </a:pPr>
              <a:endParaRPr lang="en-US" sz="2600">
                <a:solidFill>
                  <a:srgbClr val="000000"/>
                </a:solidFill>
                <a:latin typeface="Alatsi"/>
                <a:ea typeface="Alatsi"/>
                <a:cs typeface="Alatsi"/>
                <a:sym typeface="Alatsi"/>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grpSp>
        <p:nvGrpSpPr>
          <p:cNvPr id="2" name="Group 2"/>
          <p:cNvGrpSpPr/>
          <p:nvPr/>
        </p:nvGrpSpPr>
        <p:grpSpPr>
          <a:xfrm>
            <a:off x="15859155" y="0"/>
            <a:ext cx="1562612" cy="1673225"/>
            <a:chOff x="0" y="0"/>
            <a:chExt cx="2083482" cy="2230967"/>
          </a:xfrm>
        </p:grpSpPr>
        <p:grpSp>
          <p:nvGrpSpPr>
            <p:cNvPr id="3" name="Group 3"/>
            <p:cNvGrpSpPr/>
            <p:nvPr/>
          </p:nvGrpSpPr>
          <p:grpSpPr>
            <a:xfrm>
              <a:off x="75599" y="0"/>
              <a:ext cx="1932284" cy="2230967"/>
              <a:chOff x="0" y="0"/>
              <a:chExt cx="703982" cy="812800"/>
            </a:xfrm>
          </p:grpSpPr>
          <p:sp>
            <p:nvSpPr>
              <p:cNvPr id="4" name="Freeform 4"/>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id="5" name="TextBox 5"/>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b="1">
                  <a:solidFill>
                    <a:srgbClr val="000000"/>
                  </a:solidFill>
                  <a:latin typeface="Open Sans Bold"/>
                  <a:ea typeface="Open Sans Bold"/>
                  <a:cs typeface="Open Sans Bold"/>
                  <a:sym typeface="Open Sans Bold"/>
                </a:rPr>
                <a:t>12</a:t>
              </a:r>
            </a:p>
          </p:txBody>
        </p:sp>
      </p:grpSp>
      <p:sp>
        <p:nvSpPr>
          <p:cNvPr id="7" name="TextBox 7"/>
          <p:cNvSpPr txBox="1"/>
          <p:nvPr/>
        </p:nvSpPr>
        <p:spPr>
          <a:xfrm>
            <a:off x="5702946" y="8800282"/>
            <a:ext cx="6882108" cy="464820"/>
          </a:xfrm>
          <a:prstGeom prst="rect">
            <a:avLst/>
          </a:prstGeom>
        </p:spPr>
        <p:txBody>
          <a:bodyPr lIns="0" tIns="0" rIns="0" bIns="0" rtlCol="0" anchor="t">
            <a:spAutoFit/>
          </a:bodyPr>
          <a:lstStyle/>
          <a:p>
            <a:pPr algn="ctr">
              <a:lnSpc>
                <a:spcPts val="3779"/>
              </a:lnSpc>
            </a:pPr>
            <a:r>
              <a:rPr lang="en-US" sz="2700">
                <a:solidFill>
                  <a:srgbClr val="000000"/>
                </a:solidFill>
                <a:latin typeface="Alatsi"/>
                <a:ea typeface="Alatsi"/>
                <a:cs typeface="Alatsi"/>
                <a:sym typeface="Alatsi"/>
              </a:rPr>
              <a:t>IIIT Pune | 2026</a:t>
            </a:r>
          </a:p>
        </p:txBody>
      </p:sp>
      <p:sp>
        <p:nvSpPr>
          <p:cNvPr id="8" name="AutoShape 8"/>
          <p:cNvSpPr/>
          <p:nvPr/>
        </p:nvSpPr>
        <p:spPr>
          <a:xfrm>
            <a:off x="-260599" y="9061267"/>
            <a:ext cx="7105264" cy="19050"/>
          </a:xfrm>
          <a:prstGeom prst="line">
            <a:avLst/>
          </a:prstGeom>
          <a:ln w="114300" cap="flat">
            <a:solidFill>
              <a:srgbClr val="9FC3D0"/>
            </a:solidFill>
            <a:prstDash val="solid"/>
            <a:headEnd type="none" w="sm" len="sm"/>
            <a:tailEnd type="none" w="sm" len="sm"/>
          </a:ln>
        </p:spPr>
      </p:sp>
      <p:sp>
        <p:nvSpPr>
          <p:cNvPr id="9" name="AutoShape 9"/>
          <p:cNvSpPr/>
          <p:nvPr/>
        </p:nvSpPr>
        <p:spPr>
          <a:xfrm>
            <a:off x="11430169" y="9061267"/>
            <a:ext cx="7105264" cy="19050"/>
          </a:xfrm>
          <a:prstGeom prst="line">
            <a:avLst/>
          </a:prstGeom>
          <a:ln w="114300" cap="flat">
            <a:solidFill>
              <a:srgbClr val="9FC3D0"/>
            </a:solidFill>
            <a:prstDash val="solid"/>
            <a:headEnd type="none" w="sm" len="sm"/>
            <a:tailEnd type="none" w="sm" len="sm"/>
          </a:ln>
        </p:spPr>
      </p:sp>
      <p:sp>
        <p:nvSpPr>
          <p:cNvPr id="10" name="TextBox 10"/>
          <p:cNvSpPr txBox="1"/>
          <p:nvPr/>
        </p:nvSpPr>
        <p:spPr>
          <a:xfrm>
            <a:off x="3679044" y="222250"/>
            <a:ext cx="10929913" cy="1450976"/>
          </a:xfrm>
          <a:prstGeom prst="rect">
            <a:avLst/>
          </a:prstGeom>
        </p:spPr>
        <p:txBody>
          <a:bodyPr lIns="0" tIns="0" rIns="0" bIns="0" rtlCol="0" anchor="t">
            <a:spAutoFit/>
          </a:bodyPr>
          <a:lstStyle/>
          <a:p>
            <a:pPr algn="ctr">
              <a:lnSpc>
                <a:spcPts val="11899"/>
              </a:lnSpc>
            </a:pPr>
            <a:r>
              <a:rPr lang="en-US" sz="8499">
                <a:solidFill>
                  <a:srgbClr val="000000"/>
                </a:solidFill>
                <a:latin typeface="Alatsi"/>
                <a:ea typeface="Alatsi"/>
                <a:cs typeface="Alatsi"/>
                <a:sym typeface="Alatsi"/>
              </a:rPr>
              <a:t>REFERENCES</a:t>
            </a:r>
          </a:p>
        </p:txBody>
      </p:sp>
      <p:sp>
        <p:nvSpPr>
          <p:cNvPr id="11" name="Freeform 11"/>
          <p:cNvSpPr/>
          <p:nvPr/>
        </p:nvSpPr>
        <p:spPr>
          <a:xfrm>
            <a:off x="55012" y="89674"/>
            <a:ext cx="1947377" cy="1493878"/>
          </a:xfrm>
          <a:custGeom>
            <a:avLst/>
            <a:gdLst/>
            <a:ahLst/>
            <a:cxnLst/>
            <a:rect l="l" t="t" r="r" b="b"/>
            <a:pathLst>
              <a:path w="1947377" h="1493878">
                <a:moveTo>
                  <a:pt x="0" y="0"/>
                </a:moveTo>
                <a:lnTo>
                  <a:pt x="1947376" y="0"/>
                </a:lnTo>
                <a:lnTo>
                  <a:pt x="1947376" y="1493878"/>
                </a:lnTo>
                <a:lnTo>
                  <a:pt x="0" y="1493878"/>
                </a:lnTo>
                <a:lnTo>
                  <a:pt x="0" y="0"/>
                </a:lnTo>
                <a:close/>
              </a:path>
            </a:pathLst>
          </a:custGeom>
          <a:blipFill>
            <a:blip r:embed="rId2"/>
            <a:stretch>
              <a:fillRect l="-15477" t="-31808" r="-11400" b="-23857"/>
            </a:stretch>
          </a:blipFill>
        </p:spPr>
      </p:sp>
      <p:sp>
        <p:nvSpPr>
          <p:cNvPr id="12" name="TextBox 12"/>
          <p:cNvSpPr txBox="1"/>
          <p:nvPr/>
        </p:nvSpPr>
        <p:spPr>
          <a:xfrm>
            <a:off x="821429" y="1764574"/>
            <a:ext cx="16645143" cy="6896734"/>
          </a:xfrm>
          <a:prstGeom prst="rect">
            <a:avLst/>
          </a:prstGeom>
        </p:spPr>
        <p:txBody>
          <a:bodyPr lIns="0" tIns="0" rIns="0" bIns="0" rtlCol="0" anchor="t">
            <a:spAutoFit/>
          </a:bodyPr>
          <a:lstStyle/>
          <a:p>
            <a:pPr marL="561345" lvl="1" indent="-280673" algn="l">
              <a:lnSpc>
                <a:spcPts val="3640"/>
              </a:lnSpc>
              <a:buAutoNum type="arabicPeriod"/>
            </a:pPr>
            <a:r>
              <a:rPr lang="en-US" sz="2600">
                <a:solidFill>
                  <a:srgbClr val="000000"/>
                </a:solidFill>
                <a:latin typeface="Times New Roman MT"/>
                <a:ea typeface="Times New Roman MT"/>
                <a:cs typeface="Times New Roman MT"/>
                <a:sym typeface="Times New Roman MT"/>
              </a:rPr>
              <a:t>M. Nahiduzzaman and A. Khandakar, "Plant Disease Classifier: Detection of Dual-Crop Diseases Using Lightweight 2D CNN Architecture," IEEE Access, vol. 11, pp. 1-12, Sep. 29, 2023, doi: </a:t>
            </a:r>
            <a:r>
              <a:rPr lang="en-US" sz="2600" u="sng">
                <a:solidFill>
                  <a:srgbClr val="000000"/>
                </a:solidFill>
                <a:latin typeface="Times New Roman MT"/>
                <a:ea typeface="Times New Roman MT"/>
                <a:cs typeface="Times New Roman MT"/>
                <a:sym typeface="Times New Roman MT"/>
                <a:hlinkClick r:id="rId3" tooltip="https://www.researchgate.net/publication/374298746_Plant_Disease_Classifier_Detection_of_Dual-Crop_Diseases_using_Lightweight_2D_CNN_Architecture"/>
              </a:rPr>
              <a:t>10.1109/ACCESS.2023.3320686</a:t>
            </a:r>
            <a:r>
              <a:rPr lang="en-US" sz="2600">
                <a:solidFill>
                  <a:srgbClr val="000000"/>
                </a:solidFill>
                <a:latin typeface="Times New Roman MT"/>
                <a:ea typeface="Times New Roman MT"/>
                <a:cs typeface="Times New Roman MT"/>
                <a:sym typeface="Times New Roman MT"/>
              </a:rPr>
              <a:t>.</a:t>
            </a:r>
          </a:p>
          <a:p>
            <a:pPr marL="561345" lvl="1" indent="-280673" algn="l">
              <a:lnSpc>
                <a:spcPts val="3640"/>
              </a:lnSpc>
              <a:buAutoNum type="arabicPeriod"/>
            </a:pPr>
            <a:r>
              <a:rPr lang="en-US" sz="2600">
                <a:solidFill>
                  <a:srgbClr val="000000"/>
                </a:solidFill>
                <a:latin typeface="Times New Roman MT"/>
                <a:ea typeface="Times New Roman MT"/>
                <a:cs typeface="Times New Roman MT"/>
                <a:sym typeface="Times New Roman MT"/>
              </a:rPr>
              <a:t>N. Nigar and M. Umer, "Improving Plant Disease Classification With Deep-Learning-Based Prediction Model Using Explainable Artificial Intelligence," IEEE Access, vol. 12, pp. 1-15, Jul. 15, 2024, doi: </a:t>
            </a:r>
            <a:r>
              <a:rPr lang="en-US" sz="2600" u="sng">
                <a:solidFill>
                  <a:srgbClr val="000000"/>
                </a:solidFill>
                <a:latin typeface="Times New Roman MT"/>
                <a:ea typeface="Times New Roman MT"/>
                <a:cs typeface="Times New Roman MT"/>
                <a:sym typeface="Times New Roman MT"/>
                <a:hlinkClick r:id="rId4" tooltip="https://www.researchgate.net/publication/382282535_Improving_Plant_Disease_Classification_with_Deep_Learning_based_Prediction_Model_using_Explainable_Artificial_Intelligence"/>
              </a:rPr>
              <a:t>10.1109/ACCESS.2024.3428553</a:t>
            </a:r>
            <a:r>
              <a:rPr lang="en-US" sz="2600">
                <a:solidFill>
                  <a:srgbClr val="000000"/>
                </a:solidFill>
                <a:latin typeface="Times New Roman MT"/>
                <a:ea typeface="Times New Roman MT"/>
                <a:cs typeface="Times New Roman MT"/>
                <a:sym typeface="Times New Roman MT"/>
              </a:rPr>
              <a:t>.</a:t>
            </a:r>
          </a:p>
          <a:p>
            <a:pPr marL="561345" lvl="1" indent="-280673" algn="l">
              <a:lnSpc>
                <a:spcPts val="3640"/>
              </a:lnSpc>
              <a:buAutoNum type="arabicPeriod"/>
            </a:pPr>
            <a:r>
              <a:rPr lang="en-US" sz="2600">
                <a:solidFill>
                  <a:srgbClr val="000000"/>
                </a:solidFill>
                <a:latin typeface="Times New Roman MT"/>
                <a:ea typeface="Times New Roman MT"/>
                <a:cs typeface="Times New Roman MT"/>
                <a:sym typeface="Times New Roman MT"/>
              </a:rPr>
              <a:t>A. Anagnostis and G. Asiminari, "A Convolutional Neural Networks Based Method for Anthracnose Infected Walnut Tree Leaves Identification," Applied Sciences, vol. 10, no. 2, pp. 469-480, Nov 2023, doi: </a:t>
            </a:r>
            <a:r>
              <a:rPr lang="en-US" sz="2600" u="sng">
                <a:solidFill>
                  <a:srgbClr val="000000"/>
                </a:solidFill>
                <a:latin typeface="Times New Roman MT"/>
                <a:ea typeface="Times New Roman MT"/>
                <a:cs typeface="Times New Roman MT"/>
                <a:sym typeface="Times New Roman MT"/>
                <a:hlinkClick r:id="rId5" tooltip="https://www.mdpi.com/2076-3417/10/2/469"/>
              </a:rPr>
              <a:t>10.3390/app10020469</a:t>
            </a:r>
            <a:r>
              <a:rPr lang="en-US" sz="2600">
                <a:solidFill>
                  <a:srgbClr val="000000"/>
                </a:solidFill>
                <a:latin typeface="Times New Roman MT"/>
                <a:ea typeface="Times New Roman MT"/>
                <a:cs typeface="Times New Roman MT"/>
                <a:sym typeface="Times New Roman MT"/>
              </a:rPr>
              <a:t>.</a:t>
            </a:r>
          </a:p>
          <a:p>
            <a:pPr marL="561345" lvl="1" indent="-280673" algn="l">
              <a:lnSpc>
                <a:spcPts val="3640"/>
              </a:lnSpc>
              <a:buAutoNum type="arabicPeriod"/>
            </a:pPr>
            <a:r>
              <a:rPr lang="en-US" sz="2600">
                <a:solidFill>
                  <a:srgbClr val="000000"/>
                </a:solidFill>
                <a:latin typeface="Times New Roman MT"/>
                <a:ea typeface="Times New Roman MT"/>
                <a:cs typeface="Times New Roman MT"/>
                <a:sym typeface="Times New Roman MT"/>
              </a:rPr>
              <a:t>D. S. Joseph and D. K. Chakradeo, Pranav "Real-Time Plant Disease Dataset Development and Detection of Plant Disease Using Deep Learning," IEEE Access, vol. 12, pp. 1-8, Feb. 2, 2024, doi: </a:t>
            </a:r>
            <a:r>
              <a:rPr lang="en-US" sz="2600" u="sng">
                <a:solidFill>
                  <a:srgbClr val="000000"/>
                </a:solidFill>
                <a:latin typeface="Times New Roman MT"/>
                <a:ea typeface="Times New Roman MT"/>
                <a:cs typeface="Times New Roman MT"/>
                <a:sym typeface="Times New Roman MT"/>
                <a:hlinkClick r:id="rId6" tooltip="https://ieeexplore.ieee.org/document/10414062"/>
              </a:rPr>
              <a:t>10.1109/ACCESS.2024.3358333</a:t>
            </a:r>
            <a:r>
              <a:rPr lang="en-US" sz="2600">
                <a:solidFill>
                  <a:srgbClr val="000000"/>
                </a:solidFill>
                <a:latin typeface="Times New Roman MT"/>
                <a:ea typeface="Times New Roman MT"/>
                <a:cs typeface="Times New Roman MT"/>
                <a:sym typeface="Times New Roman MT"/>
              </a:rPr>
              <a:t>.</a:t>
            </a:r>
          </a:p>
          <a:p>
            <a:pPr marL="561345" lvl="1" indent="-280673" algn="l">
              <a:lnSpc>
                <a:spcPts val="3640"/>
              </a:lnSpc>
              <a:buAutoNum type="arabicPeriod"/>
            </a:pPr>
            <a:r>
              <a:rPr lang="en-US" sz="2600">
                <a:solidFill>
                  <a:srgbClr val="000000"/>
                </a:solidFill>
                <a:latin typeface="Times New Roman MT"/>
                <a:ea typeface="Times New Roman MT"/>
                <a:cs typeface="Times New Roman MT"/>
                <a:sym typeface="Times New Roman MT"/>
              </a:rPr>
              <a:t>L. Li and S. Zhang, "Plant Disease Detection and Classification by Deep Learning—A Review," IEEE Access, vol. 9, pp. 112020-112035, Apr. 19, 2021, doi: </a:t>
            </a:r>
            <a:r>
              <a:rPr lang="en-US" sz="2600" u="sng">
                <a:solidFill>
                  <a:srgbClr val="000000"/>
                </a:solidFill>
                <a:latin typeface="Times New Roman MT"/>
                <a:ea typeface="Times New Roman MT"/>
                <a:cs typeface="Times New Roman MT"/>
                <a:sym typeface="Times New Roman MT"/>
                <a:hlinkClick r:id="rId7" tooltip="https://ieeexplore.ieee.org/stamp/stamp.jsp?arnumber=9399342"/>
              </a:rPr>
              <a:t>10.1109/ACCESS.2021.3069646</a:t>
            </a:r>
            <a:r>
              <a:rPr lang="en-US" sz="2600">
                <a:solidFill>
                  <a:srgbClr val="000000"/>
                </a:solidFill>
                <a:latin typeface="Times New Roman MT"/>
                <a:ea typeface="Times New Roman MT"/>
                <a:cs typeface="Times New Roman MT"/>
                <a:sym typeface="Times New Roman MT"/>
              </a:rPr>
              <a:t>.</a:t>
            </a:r>
          </a:p>
          <a:p>
            <a:pPr algn="l">
              <a:lnSpc>
                <a:spcPts val="3640"/>
              </a:lnSpc>
            </a:pPr>
            <a:endParaRPr lang="en-US" sz="2600">
              <a:solidFill>
                <a:srgbClr val="000000"/>
              </a:solidFill>
              <a:latin typeface="Times New Roman MT"/>
              <a:ea typeface="Times New Roman MT"/>
              <a:cs typeface="Times New Roman MT"/>
              <a:sym typeface="Times New Roman M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4554977" y="3748035"/>
            <a:ext cx="11627497" cy="2514704"/>
          </a:xfrm>
          <a:prstGeom prst="rect">
            <a:avLst/>
          </a:prstGeom>
        </p:spPr>
        <p:txBody>
          <a:bodyPr lIns="0" tIns="0" rIns="0" bIns="0" rtlCol="0" anchor="t">
            <a:spAutoFit/>
          </a:bodyPr>
          <a:lstStyle/>
          <a:p>
            <a:pPr algn="ctr">
              <a:lnSpc>
                <a:spcPts val="20573"/>
              </a:lnSpc>
            </a:pPr>
            <a:r>
              <a:rPr lang="en-US" sz="14695">
                <a:solidFill>
                  <a:srgbClr val="000000"/>
                </a:solidFill>
                <a:latin typeface="Alatsi"/>
                <a:ea typeface="Alatsi"/>
                <a:cs typeface="Alatsi"/>
                <a:sym typeface="Alatsi"/>
              </a:rPr>
              <a:t>THANK YOU</a:t>
            </a:r>
          </a:p>
        </p:txBody>
      </p:sp>
      <p:sp>
        <p:nvSpPr>
          <p:cNvPr id="3" name="TextBox 3"/>
          <p:cNvSpPr txBox="1"/>
          <p:nvPr/>
        </p:nvSpPr>
        <p:spPr>
          <a:xfrm>
            <a:off x="6927671" y="1846941"/>
            <a:ext cx="6882108" cy="533299"/>
          </a:xfrm>
          <a:prstGeom prst="rect">
            <a:avLst/>
          </a:prstGeom>
        </p:spPr>
        <p:txBody>
          <a:bodyPr lIns="0" tIns="0" rIns="0" bIns="0" rtlCol="0" anchor="t">
            <a:spAutoFit/>
          </a:bodyPr>
          <a:lstStyle/>
          <a:p>
            <a:pPr algn="ctr">
              <a:lnSpc>
                <a:spcPts val="4376"/>
              </a:lnSpc>
            </a:pPr>
            <a:r>
              <a:rPr lang="en-US" sz="3126">
                <a:solidFill>
                  <a:srgbClr val="000000"/>
                </a:solidFill>
                <a:latin typeface="Alatsi"/>
                <a:ea typeface="Alatsi"/>
                <a:cs typeface="Alatsi"/>
                <a:sym typeface="Alatsi"/>
              </a:rPr>
              <a:t>IIIT PUNE | 2026</a:t>
            </a:r>
          </a:p>
        </p:txBody>
      </p:sp>
      <p:grpSp>
        <p:nvGrpSpPr>
          <p:cNvPr id="4" name="Group 4"/>
          <p:cNvGrpSpPr/>
          <p:nvPr/>
        </p:nvGrpSpPr>
        <p:grpSpPr>
          <a:xfrm>
            <a:off x="-31071" y="0"/>
            <a:ext cx="4239083" cy="10287000"/>
            <a:chOff x="0" y="0"/>
            <a:chExt cx="5652111" cy="13716000"/>
          </a:xfrm>
        </p:grpSpPr>
        <p:grpSp>
          <p:nvGrpSpPr>
            <p:cNvPr id="5" name="Group 5"/>
            <p:cNvGrpSpPr/>
            <p:nvPr/>
          </p:nvGrpSpPr>
          <p:grpSpPr>
            <a:xfrm>
              <a:off x="2826056" y="0"/>
              <a:ext cx="2826056" cy="13716000"/>
              <a:chOff x="0" y="0"/>
              <a:chExt cx="558233" cy="2709333"/>
            </a:xfrm>
          </p:grpSpPr>
          <p:sp>
            <p:nvSpPr>
              <p:cNvPr id="6" name="Freeform 6"/>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E9E0D9"/>
              </a:solidFill>
            </p:spPr>
          </p:sp>
          <p:sp>
            <p:nvSpPr>
              <p:cNvPr id="7" name="TextBox 7"/>
              <p:cNvSpPr txBox="1"/>
              <p:nvPr/>
            </p:nvSpPr>
            <p:spPr>
              <a:xfrm>
                <a:off x="0" y="-47625"/>
                <a:ext cx="558233" cy="2756958"/>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413028" y="0"/>
              <a:ext cx="2826056" cy="13716000"/>
              <a:chOff x="0" y="0"/>
              <a:chExt cx="558233" cy="2709333"/>
            </a:xfrm>
          </p:grpSpPr>
          <p:sp>
            <p:nvSpPr>
              <p:cNvPr id="9" name="Freeform 9"/>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9FC3D0"/>
              </a:solidFill>
            </p:spPr>
          </p:sp>
          <p:sp>
            <p:nvSpPr>
              <p:cNvPr id="10" name="TextBox 10"/>
              <p:cNvSpPr txBox="1"/>
              <p:nvPr/>
            </p:nvSpPr>
            <p:spPr>
              <a:xfrm>
                <a:off x="0" y="-47625"/>
                <a:ext cx="558233" cy="2756958"/>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0" y="0"/>
              <a:ext cx="2826056" cy="13716000"/>
              <a:chOff x="0" y="0"/>
              <a:chExt cx="558233" cy="2709333"/>
            </a:xfrm>
          </p:grpSpPr>
          <p:sp>
            <p:nvSpPr>
              <p:cNvPr id="12" name="Freeform 12"/>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E9C7C6"/>
              </a:solidFill>
            </p:spPr>
          </p:sp>
          <p:sp>
            <p:nvSpPr>
              <p:cNvPr id="13" name="TextBox 13"/>
              <p:cNvSpPr txBox="1"/>
              <p:nvPr/>
            </p:nvSpPr>
            <p:spPr>
              <a:xfrm>
                <a:off x="0" y="-47625"/>
                <a:ext cx="558233" cy="2756958"/>
              </a:xfrm>
              <a:prstGeom prst="rect">
                <a:avLst/>
              </a:prstGeom>
            </p:spPr>
            <p:txBody>
              <a:bodyPr lIns="50800" tIns="50800" rIns="50800" bIns="50800" rtlCol="0" anchor="ctr"/>
              <a:lstStyle/>
              <a:p>
                <a:pPr algn="ctr">
                  <a:lnSpc>
                    <a:spcPts val="2659"/>
                  </a:lnSpc>
                </a:pPr>
                <a:endParaRPr/>
              </a:p>
            </p:txBody>
          </p:sp>
        </p:gr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214</TotalTime>
  <Words>1018</Words>
  <Application>Microsoft Office PowerPoint</Application>
  <PresentationFormat>Custom</PresentationFormat>
  <Paragraphs>124</Paragraphs>
  <Slides>15</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15</vt:i4>
      </vt:variant>
    </vt:vector>
  </HeadingPairs>
  <TitlesOfParts>
    <vt:vector size="27" baseType="lpstr">
      <vt:lpstr>Alatsi</vt:lpstr>
      <vt:lpstr>Canva Sans Italics</vt:lpstr>
      <vt:lpstr>Open Sans Bold</vt:lpstr>
      <vt:lpstr>Arial</vt:lpstr>
      <vt:lpstr>Times New Roman MT Bold</vt:lpstr>
      <vt:lpstr>Times New Roman MT</vt:lpstr>
      <vt:lpstr>Abhaya Libre Bold</vt:lpstr>
      <vt:lpstr>Abhaya Libre</vt:lpstr>
      <vt:lpstr>Canva Sans Bold</vt:lpstr>
      <vt:lpstr>Canva Sans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Beige Pastel Minimalist Thesis Defense Presentation</dc:title>
  <cp:lastModifiedBy>Jyotiraditya Chillal</cp:lastModifiedBy>
  <cp:revision>3</cp:revision>
  <dcterms:created xsi:type="dcterms:W3CDTF">2006-08-16T00:00:00Z</dcterms:created>
  <dcterms:modified xsi:type="dcterms:W3CDTF">2026-05-05T10:01:22Z</dcterms:modified>
  <dc:identifier>DAHIs5Wynh0</dc:identifier>
</cp:coreProperties>
</file>